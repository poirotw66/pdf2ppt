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7475200" cy="975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6350" y="1200150"/>
            <a:ext cx="2222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1D5D8"/>
                </a:solidFill>
                <a:latin typeface="DejaVu Sans"/>
              </a:rPr>
              <a:t>14</a:t>
            </a:r>
            <a:endParaRPr sz="1200" b="1" i="0">
              <a:latin typeface="DejaVu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2950" y="12128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15</a:t>
            </a:r>
            <a:endParaRPr sz="1100" b="1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2750" y="1504950"/>
            <a:ext cx="161290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5797C"/>
                </a:solidFill>
                <a:latin typeface="DejaVu Sans"/>
              </a:rPr>
              <a:t>AGENTIC LOGIC PATHS</a:t>
            </a:r>
            <a:endParaRPr sz="1000" b="1" i="0">
              <a:latin typeface="DejaVu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163300" y="1695450"/>
            <a:ext cx="2032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7D6C4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29050" y="1911350"/>
            <a:ext cx="2032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0D4D7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2950" y="19113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BCED5"/>
                </a:solidFill>
                <a:latin typeface="DejaVu Sans"/>
              </a:rPr>
              <a:t>10</a:t>
            </a:r>
            <a:endParaRPr sz="1100" b="1" i="0">
              <a:latin typeface="DejaVu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633200" y="2082800"/>
            <a:ext cx="2286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FCDBC"/>
                </a:solidFill>
                <a:latin typeface="DejaVu Sans"/>
              </a:rPr>
              <a:t>KA</a:t>
            </a:r>
            <a:endParaRPr sz="1300" b="1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17150" y="2101850"/>
            <a:ext cx="2667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4D6BF"/>
                </a:solidFill>
                <a:latin typeface="DejaVu Sans"/>
              </a:rPr>
              <a:t>NG</a:t>
            </a:r>
            <a:endParaRPr sz="1300" b="1" i="0">
              <a:latin typeface="DejaVu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71700" y="245110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B7E80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35050" y="259080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C8084"/>
                </a:solidFill>
                <a:latin typeface="DejaVu Sans"/>
              </a:rPr>
              <a:t>CONTEXTUAL ROUTING</a:t>
            </a:r>
            <a:endParaRPr sz="900" b="1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248900" y="2762250"/>
            <a:ext cx="2032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0" i="0">
                <a:solidFill>
                  <a:srgbClr val="D3D6C3"/>
                </a:solidFill>
                <a:latin typeface="DejaVu Sans"/>
              </a:rPr>
              <a:t>NG</a:t>
            </a:r>
            <a:endParaRPr sz="1000" b="0" i="0">
              <a:latin typeface="DejaVu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35050" y="2857500"/>
            <a:ext cx="16065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4787D"/>
                </a:solidFill>
                <a:latin typeface="DejaVu Sans"/>
              </a:rPr>
              <a:t>PRECISION INFERENCE</a:t>
            </a:r>
            <a:endParaRPr sz="1000" b="1" i="0">
              <a:latin typeface="DejaVu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86200" y="3035300"/>
            <a:ext cx="1397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D6D5DA"/>
                </a:solidFill>
                <a:latin typeface="DejaVu Sans"/>
              </a:rPr>
              <a:t>2</a:t>
            </a:r>
            <a:endParaRPr sz="1300" b="1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03300" y="3695700"/>
            <a:ext cx="15557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77C81"/>
                </a:solidFill>
                <a:latin typeface="DejaVu Sans"/>
              </a:rPr>
              <a:t>TARGET NODE LOCKED</a:t>
            </a:r>
            <a:endParaRPr sz="1000" b="1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78050" y="3702050"/>
            <a:ext cx="14351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7D8184"/>
                </a:solidFill>
                <a:latin typeface="DejaVu Sans"/>
              </a:rPr>
              <a:t>SENANTIC CLUSTERS</a:t>
            </a:r>
            <a:endParaRPr sz="1000" b="1" i="0">
              <a:latin typeface="DejaVu Sa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60800" y="3714750"/>
            <a:ext cx="19685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9CDD0"/>
                </a:solidFill>
                <a:latin typeface="DejaVu Sans"/>
              </a:rPr>
              <a:t>0</a:t>
            </a:r>
            <a:endParaRPr sz="1300" b="1" i="0">
              <a:latin typeface="DejaVu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2950" y="3727450"/>
            <a:ext cx="17780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C6CBD1"/>
                </a:solidFill>
                <a:latin typeface="DejaVu Sans"/>
              </a:rPr>
              <a:t>0</a:t>
            </a:r>
            <a:endParaRPr sz="1100" b="1" i="0">
              <a:latin typeface="DejaVu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79850" y="4362450"/>
            <a:ext cx="12700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D4D8DB"/>
                </a:solidFill>
                <a:latin typeface="Noto Sans CJK TC"/>
              </a:rPr>
              <a:t>-2</a:t>
            </a:r>
            <a:endParaRPr sz="800" b="1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645900" y="4457700"/>
            <a:ext cx="19050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D0CEBD"/>
                </a:solidFill>
                <a:latin typeface="DejaVu Sans"/>
              </a:rPr>
              <a:t>AC</a:t>
            </a:r>
            <a:endParaRPr sz="1000" b="1" i="0">
              <a:latin typeface="DejaVu San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735050" y="4730750"/>
            <a:ext cx="15240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3787E"/>
                </a:solidFill>
                <a:latin typeface="DejaVu Sans"/>
              </a:rPr>
              <a:t>TARGET NODE LOCKED</a:t>
            </a:r>
            <a:endParaRPr sz="900" b="1" i="0">
              <a:latin typeface="DejaVu San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1700" y="4768850"/>
            <a:ext cx="144145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76797C"/>
                </a:solidFill>
                <a:latin typeface="DejaVu Sans"/>
              </a:rPr>
              <a:t>VECTOR EMBEDDINGS</a:t>
            </a:r>
            <a:endParaRPr sz="900" b="1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664950" y="5086350"/>
            <a:ext cx="165100" cy="139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2D2BE"/>
                </a:solidFill>
                <a:latin typeface="DejaVu Sans"/>
              </a:rPr>
              <a:t>M</a:t>
            </a:r>
            <a:endParaRPr sz="1100" b="1" i="0">
              <a:latin typeface="DejaVu San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19400" y="5130800"/>
            <a:ext cx="8064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828689"/>
                </a:solidFill>
                <a:latin typeface="DejaVu Sans"/>
              </a:rPr>
              <a:t>Fira Code</a:t>
            </a:r>
            <a:endParaRPr sz="1200" b="1" i="0">
              <a:latin typeface="DejaVu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236200" y="5270500"/>
            <a:ext cx="234950" cy="146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D1D1C0"/>
                </a:solidFill>
                <a:latin typeface="DejaVu Sans"/>
              </a:rPr>
              <a:t>RA</a:t>
            </a:r>
            <a:endParaRPr sz="1100" b="1" i="0">
              <a:latin typeface="DejaVu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468350" y="5340350"/>
            <a:ext cx="2730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CACED4"/>
                </a:solidFill>
                <a:latin typeface="Noto Sans CJK TC"/>
              </a:rPr>
              <a:t>-10</a:t>
            </a:r>
            <a:endParaRPr sz="1300" b="1" i="0">
              <a:latin typeface="Noto Sans CJK T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645900" y="5638800"/>
            <a:ext cx="190500" cy="158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DC7B5"/>
                </a:solidFill>
                <a:latin typeface="DejaVu Sans"/>
              </a:rPr>
              <a:t>RO</a:t>
            </a:r>
            <a:endParaRPr sz="900" b="1" i="0">
              <a:latin typeface="DejaVu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02750" y="5829300"/>
            <a:ext cx="1536700" cy="190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73767B"/>
                </a:solidFill>
                <a:latin typeface="DejaVu Sans"/>
              </a:rPr>
              <a:t>CONTEXTUAL ROUTING</a:t>
            </a:r>
            <a:endParaRPr sz="900" b="0" i="0">
              <a:latin typeface="DejaVu San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822700" y="6197600"/>
            <a:ext cx="20955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D0D4D7"/>
                </a:solidFill>
                <a:latin typeface="DejaVu Sans"/>
              </a:rPr>
              <a:t>10</a:t>
            </a:r>
            <a:endParaRPr sz="1200" b="1" i="0">
              <a:latin typeface="DejaVu San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519150" y="6216650"/>
            <a:ext cx="171450" cy="114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900" b="1" i="0">
                <a:solidFill>
                  <a:srgbClr val="CBD0D6"/>
                </a:solidFill>
                <a:latin typeface="DejaVu Sans"/>
              </a:rPr>
              <a:t>15</a:t>
            </a:r>
            <a:endParaRPr sz="900" b="1" i="0">
              <a:latin typeface="DejaVu San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00650" y="6375400"/>
            <a:ext cx="127000" cy="101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00" b="1" i="0">
                <a:solidFill>
                  <a:srgbClr val="C7CCCF"/>
                </a:solidFill>
                <a:latin typeface="DejaVu Sans"/>
              </a:rPr>
              <a:t>6</a:t>
            </a:r>
            <a:endParaRPr sz="800" b="1" i="0">
              <a:latin typeface="DejaVu San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79700" y="7010400"/>
            <a:ext cx="12103100" cy="990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5500" b="1" i="0">
                <a:solidFill>
                  <a:srgbClr val="1D232B"/>
                </a:solidFill>
                <a:latin typeface="Noto Sans CJK TC"/>
              </a:rPr>
              <a:t>RAG 2026：當向量搜尋遇上代理推理</a:t>
            </a:r>
            <a:endParaRPr sz="5500" b="1" i="0">
              <a:latin typeface="Noto Sans CJK TC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070350" y="8064500"/>
            <a:ext cx="9321800" cy="679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600" b="1" i="0">
                <a:solidFill>
                  <a:srgbClr val="34383E"/>
                </a:solidFill>
                <a:latin typeface="Noto Sans CJK TC"/>
              </a:rPr>
              <a:t>企業級 99%準確度AI架構的演進與實踐指南</a:t>
            </a:r>
            <a:endParaRPr sz="3600" b="1" i="0">
              <a:latin typeface="Noto Sans CJK T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319500" y="9461500"/>
            <a:ext cx="1047750" cy="19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A4E55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68400" y="412750"/>
            <a:ext cx="1546225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1E1F1F"/>
                </a:solidFill>
                <a:latin typeface="Noto Sans CJK TC"/>
              </a:rPr>
              <a:t>「上下文盲視」揭示了 RAG1.0建立在脆弱的統計假象之上</a:t>
            </a:r>
            <a:endParaRPr sz="45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848350" y="2101850"/>
            <a:ext cx="57594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42525"/>
                </a:solidFill>
                <a:latin typeface="DejaVu Sans"/>
              </a:rPr>
              <a:t>The Anatomy of Context Blindness</a:t>
            </a:r>
            <a:endParaRPr sz="2500" b="0" i="0">
              <a:latin typeface="DejaVu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43700" y="2806700"/>
            <a:ext cx="177800" cy="165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B2B6B9"/>
                </a:solidFill>
                <a:latin typeface="Noto Sans CJK TC"/>
              </a:rPr>
              <a:t>中</a:t>
            </a:r>
            <a:endParaRPr sz="13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53700" y="2806700"/>
            <a:ext cx="18415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B2B7BD"/>
                </a:solidFill>
                <a:latin typeface="Noto Sans CJK TC"/>
              </a:rPr>
              <a:t>中</a:t>
            </a:r>
            <a:endParaRPr sz="13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31150" y="3346450"/>
            <a:ext cx="1619250" cy="285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5F6A76"/>
                </a:solidFill>
                <a:latin typeface="DejaVu Sans"/>
              </a:rPr>
              <a:t>RRARNE</a:t>
            </a:r>
            <a:endParaRPr sz="2300" b="0" i="0">
              <a:latin typeface="DejaVu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06350" y="3384550"/>
            <a:ext cx="1720850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F0F0F0"/>
                </a:solidFill>
                <a:latin typeface="Noto Sans CJK TC"/>
              </a:rPr>
              <a:t>根本原因</a:t>
            </a:r>
            <a:endParaRPr sz="31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3600" y="3403600"/>
            <a:ext cx="168275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100" b="0" i="0">
                <a:solidFill>
                  <a:srgbClr val="E4EDF3"/>
                </a:solidFill>
                <a:latin typeface="Noto Sans CJK TC"/>
              </a:rPr>
              <a:t>企業痛點</a:t>
            </a:r>
            <a:endParaRPr sz="3100" b="0" i="0">
              <a:latin typeface="Noto Sans CJK T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4038600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2A261E"/>
                </a:solidFill>
                <a:latin typeface="Noto Sans CJK TC"/>
              </a:rPr>
              <a:t>核心規則(Core Rule)</a:t>
            </a:r>
            <a:endParaRPr sz="23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12700" y="4349750"/>
            <a:ext cx="3562350" cy="406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語義相似性≠事實正確性。</a:t>
            </a:r>
            <a:endParaRPr sz="21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2650" y="4425950"/>
            <a:ext cx="38354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94949"/>
                </a:solidFill>
                <a:latin typeface="Noto Sans CJK TC"/>
              </a:rPr>
              <a:t>企業入數萬份文件，系統卻</a:t>
            </a:r>
            <a:endParaRPr sz="2300" b="0" i="0">
              <a:latin typeface="Noto Sans CJK T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6300" y="4902200"/>
            <a:ext cx="37592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0" i="0">
                <a:solidFill>
                  <a:srgbClr val="4A4A4A"/>
                </a:solidFill>
                <a:latin typeface="Noto Sans CJK TC"/>
              </a:rPr>
              <a:t>頻繁引用2023年的舊合約來</a:t>
            </a:r>
            <a:endParaRPr sz="23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934700" y="4965700"/>
            <a:ext cx="13716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0" i="0">
                <a:solidFill>
                  <a:srgbClr val="A35152"/>
                </a:solidFill>
                <a:latin typeface="Noto Sans CJK TC"/>
              </a:rPr>
              <a:t>切片演算法/</a:t>
            </a:r>
            <a:endParaRPr sz="18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731750" y="5054600"/>
            <a:ext cx="38481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A4A4A"/>
                </a:solidFill>
                <a:latin typeface="Noto Sans CJK TC"/>
              </a:rPr>
              <a:t>向量空間的鄰近性僅代表詞彙</a:t>
            </a:r>
            <a:endParaRPr sz="2100" b="0" i="0">
              <a:latin typeface="Noto Sans CJK T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80700" y="5321300"/>
            <a:ext cx="1676400" cy="23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56595C"/>
                </a:solidFill>
                <a:latin typeface="DejaVu Sans"/>
              </a:rPr>
              <a:t>Chunking Algorithm</a:t>
            </a:r>
            <a:endParaRPr sz="12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9950" y="5346700"/>
            <a:ext cx="342265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64646"/>
                </a:solidFill>
                <a:latin typeface="Noto Sans CJK TC"/>
              </a:rPr>
              <a:t>回答2026年的決策問题。</a:t>
            </a:r>
            <a:endParaRPr sz="22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731750" y="5518150"/>
            <a:ext cx="38481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353535"/>
                </a:solidFill>
                <a:latin typeface="Noto Sans CJK TC"/>
              </a:rPr>
              <a:t>分佈的接近，完全無視邏輯真</a:t>
            </a:r>
            <a:endParaRPr sz="21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38100" y="5988050"/>
            <a:ext cx="26289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2C2C2C"/>
                </a:solidFill>
                <a:latin typeface="Noto Sans CJK TC"/>
              </a:rPr>
              <a:t>實性與版本有效性。</a:t>
            </a:r>
            <a:endParaRPr sz="21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744450" y="6800850"/>
            <a:ext cx="384810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100" b="0" i="0">
                <a:solidFill>
                  <a:srgbClr val="404040"/>
                </a:solidFill>
                <a:latin typeface="Noto Sans CJK TC"/>
              </a:rPr>
              <a:t>單純的切片策略會導致準確度</a:t>
            </a:r>
            <a:endParaRPr sz="2100" b="0" i="0">
              <a:latin typeface="Noto Sans CJK T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36000" y="6915150"/>
            <a:ext cx="12319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E2B24"/>
                </a:solidFill>
                <a:latin typeface="Noto Sans CJK TC"/>
              </a:rPr>
              <a:t>例外條款</a:t>
            </a:r>
            <a:endParaRPr sz="22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731750" y="7258050"/>
            <a:ext cx="21463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2D2D2D"/>
                </a:solidFill>
                <a:latin typeface="Noto Sans CJK TC"/>
              </a:rPr>
              <a:t>下降超過60%。</a:t>
            </a:r>
            <a:endParaRPr sz="22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56550" y="7315200"/>
            <a:ext cx="2603500" cy="368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000" b="0" i="0">
                <a:solidFill>
                  <a:srgbClr val="27221A"/>
                </a:solidFill>
                <a:latin typeface="DejaVu Sans"/>
              </a:rPr>
              <a:t>(Exception Clause)</a:t>
            </a:r>
            <a:endParaRPr sz="2000" b="0" i="0">
              <a:latin typeface="DejaVu Sa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287750" y="9474200"/>
            <a:ext cx="107315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1" i="0">
                <a:solidFill>
                  <a:srgbClr val="484D52"/>
                </a:solidFill>
                <a:latin typeface="DejaVu Sans"/>
              </a:rPr>
              <a:t>NotebookLM</a:t>
            </a:r>
            <a:endParaRPr sz="1300" b="1" i="0">
              <a:latin typeface="DejaVu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5200" y="742950"/>
            <a:ext cx="12890500" cy="857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4700" b="1" i="0">
                <a:solidFill>
                  <a:srgbClr val="070707"/>
                </a:solidFill>
                <a:latin typeface="Noto Sans CJK TC"/>
              </a:rPr>
              <a:t>向量資料庫依然是處理千萬級數據的極速堡壘</a:t>
            </a:r>
            <a:endParaRPr sz="4700" b="1" i="0">
              <a:latin typeface="Noto Sans CJK T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76850" y="2019300"/>
            <a:ext cx="1479550" cy="501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22223"/>
                </a:solidFill>
                <a:latin typeface="Noto Sans CJK TC"/>
              </a:rPr>
              <a:t>核心優勢</a:t>
            </a:r>
            <a:endParaRPr sz="2700" b="0" i="0">
              <a:latin typeface="Noto Sans CJK T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15700" y="2019300"/>
            <a:ext cx="213360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1E1E1E"/>
                </a:solidFill>
                <a:latin typeface="Noto Sans CJK TC"/>
              </a:rPr>
              <a:t>最佳應用場景</a:t>
            </a:r>
            <a:endParaRPr sz="2600" b="0" i="0">
              <a:latin typeface="Noto Sans CJK T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9500" y="2025650"/>
            <a:ext cx="1492250" cy="495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1B1B1B"/>
                </a:solidFill>
                <a:latin typeface="Noto Sans CJK TC"/>
              </a:rPr>
              <a:t>解决方案</a:t>
            </a:r>
            <a:endParaRPr sz="2700" b="0" i="0">
              <a:latin typeface="Noto Sans CJK T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95900" y="2838450"/>
            <a:ext cx="4660900" cy="488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43434"/>
                </a:solidFill>
                <a:latin typeface="Noto Sans CJK TC"/>
              </a:rPr>
              <a:t>大規模RAG（穩定性舆擴展性）</a:t>
            </a:r>
            <a:endParaRPr sz="2500" b="0" i="0">
              <a:latin typeface="Noto Sans CJK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28400" y="2863850"/>
            <a:ext cx="24638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363636"/>
                </a:solidFill>
                <a:latin typeface="Noto Sans CJK TC"/>
              </a:rPr>
              <a:t>企業級生產環境</a:t>
            </a:r>
            <a:endParaRPr sz="2600" b="0" i="0">
              <a:latin typeface="Noto Sans CJK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92300" y="2908300"/>
            <a:ext cx="156845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600" b="0" i="0">
                <a:solidFill>
                  <a:srgbClr val="282828"/>
                </a:solidFill>
                <a:latin typeface="DejaVu Sans"/>
              </a:rPr>
              <a:t>Pinecone</a:t>
            </a:r>
            <a:endParaRPr sz="2600" b="0" i="0">
              <a:latin typeface="DejaVu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334750" y="3727450"/>
            <a:ext cx="245745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636"/>
                </a:solidFill>
                <a:latin typeface="Noto Sans CJK TC"/>
              </a:rPr>
              <a:t>合規性嚴格環境</a:t>
            </a:r>
            <a:endParaRPr sz="2500" b="0" i="0">
              <a:latin typeface="Noto Sans CJK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08600" y="3740150"/>
            <a:ext cx="40957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363737"/>
                </a:solidFill>
                <a:latin typeface="Noto Sans CJK TC"/>
              </a:rPr>
              <a:t>混合搜尋精度(詞法+語義)</a:t>
            </a:r>
            <a:endParaRPr sz="2700" b="0" i="0">
              <a:latin typeface="Noto Sans CJK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92300" y="3759200"/>
            <a:ext cx="20447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92A2A"/>
                </a:solidFill>
                <a:latin typeface="DejaVu Sans"/>
              </a:rPr>
              <a:t>OpenSearch</a:t>
            </a:r>
            <a:endParaRPr sz="2500" b="0" i="0">
              <a:latin typeface="DejaVu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14950" y="4603750"/>
            <a:ext cx="276860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33333"/>
                </a:solidFill>
                <a:latin typeface="Noto Sans CJK TC"/>
              </a:rPr>
              <a:t>現有資料庫集成度</a:t>
            </a:r>
            <a:endParaRPr sz="2500" b="0" i="0">
              <a:latin typeface="Noto Sans CJK T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41100" y="4616450"/>
            <a:ext cx="3105150" cy="4127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A3A3A"/>
                </a:solidFill>
                <a:latin typeface="Noto Sans CJK TC"/>
              </a:rPr>
              <a:t>中小團隊與輕量開發</a:t>
            </a:r>
            <a:endParaRPr sz="2500" b="0" i="0">
              <a:latin typeface="Noto Sans CJK T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98650" y="4648200"/>
            <a:ext cx="1549400" cy="3746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72928"/>
                </a:solidFill>
                <a:latin typeface="DejaVu Sans"/>
              </a:rPr>
              <a:t>PGVector</a:t>
            </a:r>
            <a:endParaRPr sz="2500" b="0" i="0">
              <a:latin typeface="DejaVu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66900" y="5448300"/>
            <a:ext cx="1003300" cy="463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700" b="0" i="0">
                <a:solidFill>
                  <a:srgbClr val="282929"/>
                </a:solidFill>
                <a:latin typeface="DejaVu Sans"/>
              </a:rPr>
              <a:t>Redis</a:t>
            </a:r>
            <a:endParaRPr sz="2700" b="0" i="0">
              <a:latin typeface="DejaVu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341100" y="5461000"/>
            <a:ext cx="30988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C3C3C"/>
                </a:solidFill>
                <a:latin typeface="Noto Sans CJK TC"/>
              </a:rPr>
              <a:t>實時應用與語義緩存</a:t>
            </a:r>
            <a:endParaRPr sz="2500" b="0" i="0">
              <a:latin typeface="Noto Sans CJK T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08600" y="54673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53535"/>
                </a:solidFill>
                <a:latin typeface="Noto Sans CJK TC"/>
              </a:rPr>
              <a:t>極低延遲與內存運算（TTFT)</a:t>
            </a:r>
            <a:endParaRPr sz="2500" b="0" i="0">
              <a:latin typeface="Noto Sans CJK T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28400" y="6318250"/>
            <a:ext cx="311785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B3B3B"/>
                </a:solidFill>
                <a:latin typeface="Noto Sans CJK TC"/>
              </a:rPr>
              <a:t>邊緣運算與原型設計</a:t>
            </a:r>
            <a:endParaRPr sz="2500" b="0" i="0">
              <a:latin typeface="Noto Sans CJK T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79600" y="6324600"/>
            <a:ext cx="1511300" cy="425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262626"/>
                </a:solidFill>
                <a:latin typeface="DejaVu Sans"/>
              </a:rPr>
              <a:t>LanceDB</a:t>
            </a:r>
            <a:endParaRPr sz="2500" b="0" i="0">
              <a:latin typeface="DejaVu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21300" y="6330950"/>
            <a:ext cx="2413000" cy="393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500" b="0" i="0">
                <a:solidFill>
                  <a:srgbClr val="383838"/>
                </a:solidFill>
                <a:latin typeface="Noto Sans CJK TC"/>
              </a:rPr>
              <a:t>本地優先靈活性</a:t>
            </a:r>
            <a:endParaRPr sz="2500" b="0" i="0">
              <a:latin typeface="Noto Sans CJK T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750" y="7435850"/>
            <a:ext cx="5600700" cy="450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18110C"/>
                </a:solidFill>
                <a:latin typeface="Noto Sans CJK TC"/>
              </a:rPr>
              <a:t>結構性致命傷（TheFatal Flaw)</a:t>
            </a:r>
            <a:endParaRPr sz="3000" b="0" i="0">
              <a:latin typeface="Noto Sans CJK T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48750" y="8089900"/>
            <a:ext cx="744855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E37"/>
                </a:solidFill>
                <a:latin typeface="Noto Sans CJK TC"/>
              </a:rPr>
              <a:t>索引延遲與上下文混淆。尋找「增加預算」時，系統常</a:t>
            </a:r>
            <a:endParaRPr sz="2200" b="0" i="0">
              <a:latin typeface="Noto Sans CJK T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55100" y="8477250"/>
            <a:ext cx="5219700" cy="38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200" b="0" i="0">
                <a:solidFill>
                  <a:srgbClr val="413D37"/>
                </a:solidFill>
                <a:latin typeface="Noto Sans CJK TC"/>
              </a:rPr>
              <a:t>因語義模糊撈出「削減開支」的片段。</a:t>
            </a:r>
            <a:endParaRPr sz="2200" b="0" i="0">
              <a:latin typeface="Noto Sans CJK T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32200" y="9474200"/>
            <a:ext cx="1028700" cy="171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1" i="0">
                <a:solidFill>
                  <a:srgbClr val="4C4F4F"/>
                </a:solidFill>
                <a:latin typeface="DejaVu Sans"/>
              </a:rPr>
              <a:t>NotebookLM</a:t>
            </a:r>
            <a:endParaRPr sz="1200" b="1" i="0">
              <a:latin typeface="DejaVu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