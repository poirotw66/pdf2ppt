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7475200" cy="975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16350" y="1200150"/>
            <a:ext cx="222250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350" b="0" i="0">
                <a:solidFill>
                  <a:srgbClr val="D1D5D8"/>
                </a:solidFill>
                <a:latin typeface="DejaVu Sans"/>
              </a:rPr>
              <a:t>14</a:t>
            </a:r>
            <a:endParaRPr sz="1200" b="0" i="0">
              <a:latin typeface="DejaVu San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442950" y="1212850"/>
            <a:ext cx="203200" cy="158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CBCED5"/>
                </a:solidFill>
                <a:latin typeface="DejaVu Sans"/>
              </a:rPr>
              <a:t>15</a:t>
            </a:r>
            <a:endParaRPr sz="1100" b="0" i="0">
              <a:latin typeface="DejaVu San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302750" y="1504950"/>
            <a:ext cx="1612900" cy="196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150" b="0" i="0">
                <a:solidFill>
                  <a:srgbClr val="75797C"/>
                </a:solidFill>
                <a:latin typeface="DejaVu Sans"/>
              </a:rPr>
              <a:t>AGENTIC LOGIC PATHS</a:t>
            </a:r>
            <a:endParaRPr sz="1000" b="0" i="0">
              <a:latin typeface="DejaVu San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163300" y="1695450"/>
            <a:ext cx="203200" cy="1651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D7D6C4"/>
                </a:solidFill>
                <a:latin typeface="DejaVu Sans"/>
              </a:rPr>
              <a:t>10</a:t>
            </a:r>
            <a:endParaRPr sz="1100" b="0" i="0">
              <a:latin typeface="DejaVu San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829050" y="1911350"/>
            <a:ext cx="203200" cy="171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D0D4D7"/>
                </a:solidFill>
                <a:latin typeface="DejaVu Sans"/>
              </a:rPr>
              <a:t>10</a:t>
            </a:r>
            <a:endParaRPr sz="1100" b="0" i="0">
              <a:latin typeface="DejaVu San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3442950" y="1911350"/>
            <a:ext cx="203200" cy="158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CBCED5"/>
                </a:solidFill>
                <a:latin typeface="DejaVu Sans"/>
              </a:rPr>
              <a:t>10</a:t>
            </a:r>
            <a:endParaRPr sz="1100" b="0" i="0">
              <a:latin typeface="DejaVu San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633200" y="2082800"/>
            <a:ext cx="228600" cy="158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350" b="0" i="0">
                <a:solidFill>
                  <a:srgbClr val="CFCDBC"/>
                </a:solidFill>
                <a:latin typeface="DejaVu Sans"/>
              </a:rPr>
              <a:t>KA</a:t>
            </a:r>
            <a:endParaRPr sz="1300" b="0" i="0">
              <a:latin typeface="DejaVu Sa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217150" y="2101850"/>
            <a:ext cx="2667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350" b="0" i="0">
                <a:solidFill>
                  <a:srgbClr val="D4D6BF"/>
                </a:solidFill>
                <a:latin typeface="DejaVu Sans"/>
              </a:rPr>
              <a:t>NG</a:t>
            </a:r>
            <a:endParaRPr sz="1300" b="0" i="0">
              <a:latin typeface="DejaVu Sa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171700" y="2451100"/>
            <a:ext cx="1441450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7B7E80"/>
                </a:solidFill>
                <a:latin typeface="DejaVu Sans"/>
              </a:rPr>
              <a:t>VECTOR EMBEDDINGS</a:t>
            </a:r>
            <a:endParaRPr sz="900" b="0" i="0">
              <a:latin typeface="DejaVu San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3735050" y="2590800"/>
            <a:ext cx="1524000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7C8084"/>
                </a:solidFill>
                <a:latin typeface="DejaVu Sans"/>
              </a:rPr>
              <a:t>CONTEXTUAL ROUTING</a:t>
            </a:r>
            <a:endParaRPr sz="900" b="0" i="0">
              <a:latin typeface="DejaVu San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248900" y="2762250"/>
            <a:ext cx="203200" cy="158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D3D6C3"/>
                </a:solidFill>
                <a:latin typeface="DejaVu Sans"/>
              </a:rPr>
              <a:t>NG</a:t>
            </a:r>
            <a:endParaRPr sz="1000" b="0" i="0">
              <a:latin typeface="DejaVu San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3735050" y="2857500"/>
            <a:ext cx="1606550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100" b="0" i="0">
                <a:solidFill>
                  <a:srgbClr val="74797E"/>
                </a:solidFill>
                <a:latin typeface="DejaVu Sans"/>
              </a:rPr>
              <a:t>PRECISION INFERENCE</a:t>
            </a:r>
            <a:endParaRPr sz="1000" b="0" i="0">
              <a:latin typeface="DejaVu San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886200" y="3035300"/>
            <a:ext cx="139700" cy="158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D6D5DA"/>
                </a:solidFill>
                <a:latin typeface="DejaVu Sans"/>
              </a:rPr>
              <a:t>2</a:t>
            </a:r>
            <a:endParaRPr sz="1300" b="0" i="0">
              <a:latin typeface="DejaVu San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3703300" y="3695700"/>
            <a:ext cx="1555750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777C81"/>
                </a:solidFill>
                <a:latin typeface="DejaVu Sans"/>
              </a:rPr>
              <a:t>TARGET NODE LOCKED</a:t>
            </a:r>
            <a:endParaRPr sz="1000" b="0" i="0">
              <a:latin typeface="DejaVu San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178050" y="3702050"/>
            <a:ext cx="1435100" cy="171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7E8285"/>
                </a:solidFill>
                <a:latin typeface="DejaVu Sans"/>
              </a:rPr>
              <a:t>SENANTIC CLUSTERS</a:t>
            </a:r>
            <a:endParaRPr sz="1000" b="0" i="0">
              <a:latin typeface="DejaVu San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860800" y="3714750"/>
            <a:ext cx="196850" cy="158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C9CDD0"/>
                </a:solidFill>
                <a:latin typeface="DejaVu Sans"/>
              </a:rPr>
              <a:t>0</a:t>
            </a:r>
            <a:endParaRPr sz="1300" b="0" i="0">
              <a:latin typeface="DejaVu San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3442950" y="3727450"/>
            <a:ext cx="177800" cy="1333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150" b="0" i="0">
                <a:solidFill>
                  <a:srgbClr val="C6CBD1"/>
                </a:solidFill>
                <a:latin typeface="DejaVu Sans"/>
              </a:rPr>
              <a:t>0</a:t>
            </a:r>
            <a:endParaRPr sz="1100" b="0" i="0">
              <a:latin typeface="DejaVu San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879850" y="4362450"/>
            <a:ext cx="127000" cy="1143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50" b="0" i="0">
                <a:solidFill>
                  <a:srgbClr val="D4D8DB"/>
                </a:solidFill>
                <a:latin typeface="Noto Sans CJK TC"/>
              </a:rPr>
              <a:t>-2</a:t>
            </a:r>
            <a:endParaRPr sz="800" b="0" i="0">
              <a:latin typeface="Noto Sans CJK TC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1645900" y="4457700"/>
            <a:ext cx="190500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100" b="0" i="0">
                <a:solidFill>
                  <a:srgbClr val="D0CEBD"/>
                </a:solidFill>
                <a:latin typeface="DejaVu Sans"/>
              </a:rPr>
              <a:t>AC</a:t>
            </a:r>
            <a:endParaRPr sz="1000" b="0" i="0">
              <a:latin typeface="DejaVu San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3735050" y="4730750"/>
            <a:ext cx="1524000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73787E"/>
                </a:solidFill>
                <a:latin typeface="DejaVu Sans"/>
              </a:rPr>
              <a:t>TARGET NODE LOCKED</a:t>
            </a:r>
            <a:endParaRPr sz="900" b="0" i="0">
              <a:latin typeface="DejaVu San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171700" y="4768850"/>
            <a:ext cx="1441450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76797C"/>
                </a:solidFill>
                <a:latin typeface="DejaVu Sans"/>
              </a:rPr>
              <a:t>VECTOR EMBEDDINGS</a:t>
            </a:r>
            <a:endParaRPr sz="900" b="0" i="0">
              <a:latin typeface="DejaVu San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1664950" y="5086350"/>
            <a:ext cx="165100" cy="139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250" b="0" i="0">
                <a:solidFill>
                  <a:srgbClr val="D2D2BE"/>
                </a:solidFill>
                <a:latin typeface="DejaVu Sans"/>
              </a:rPr>
              <a:t>M</a:t>
            </a:r>
            <a:endParaRPr sz="1100" b="0" i="0">
              <a:latin typeface="DejaVu San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819400" y="5130800"/>
            <a:ext cx="806450" cy="196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350" b="0" i="0">
                <a:solidFill>
                  <a:srgbClr val="828689"/>
                </a:solidFill>
                <a:latin typeface="DejaVu Sans"/>
              </a:rPr>
              <a:t>Fira Code</a:t>
            </a:r>
            <a:endParaRPr sz="1200" b="0" i="0">
              <a:latin typeface="DejaVu San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0236200" y="5270500"/>
            <a:ext cx="234950" cy="1460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300" b="0" i="0">
                <a:solidFill>
                  <a:srgbClr val="D2D1C1"/>
                </a:solidFill>
                <a:latin typeface="DejaVu Sans"/>
              </a:rPr>
              <a:t>RA</a:t>
            </a:r>
            <a:endParaRPr sz="1100" b="0" i="0">
              <a:latin typeface="DejaVu San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3468350" y="5340350"/>
            <a:ext cx="273050" cy="171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CACED4"/>
                </a:solidFill>
                <a:latin typeface="Noto Sans CJK TC"/>
              </a:rPr>
              <a:t>-10</a:t>
            </a:r>
            <a:endParaRPr sz="1300" b="0" i="0">
              <a:latin typeface="Noto Sans CJK TC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1645900" y="5638800"/>
            <a:ext cx="190500" cy="158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CDC7B5"/>
                </a:solidFill>
                <a:latin typeface="DejaVu Sans"/>
              </a:rPr>
              <a:t>RO</a:t>
            </a:r>
            <a:endParaRPr sz="900" b="0" i="0">
              <a:latin typeface="DejaVu San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302750" y="5829300"/>
            <a:ext cx="1536700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72757A"/>
                </a:solidFill>
                <a:latin typeface="DejaVu Sans"/>
              </a:rPr>
              <a:t>CONTEXTUAL ROUTING</a:t>
            </a:r>
            <a:endParaRPr sz="900" b="0" i="0">
              <a:latin typeface="DejaVu San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822700" y="6197600"/>
            <a:ext cx="209550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300" b="0" i="0">
                <a:solidFill>
                  <a:srgbClr val="D0D4D7"/>
                </a:solidFill>
                <a:latin typeface="DejaVu Sans"/>
              </a:rPr>
              <a:t>10</a:t>
            </a:r>
            <a:endParaRPr sz="1200" b="0" i="0">
              <a:latin typeface="DejaVu San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3519150" y="6216650"/>
            <a:ext cx="171450" cy="1143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CBD0D6"/>
                </a:solidFill>
                <a:latin typeface="DejaVu Sans"/>
              </a:rPr>
              <a:t>15</a:t>
            </a:r>
            <a:endParaRPr sz="900" b="0" i="0">
              <a:latin typeface="DejaVu San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200650" y="6375400"/>
            <a:ext cx="127000" cy="101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C7CCCF"/>
                </a:solidFill>
                <a:latin typeface="DejaVu Sans"/>
              </a:rPr>
              <a:t>6</a:t>
            </a:r>
            <a:endParaRPr sz="800" b="0" i="0">
              <a:latin typeface="DejaVu San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679700" y="7010400"/>
            <a:ext cx="12103100" cy="990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4800" b="0" i="0">
                <a:solidFill>
                  <a:srgbClr val="1D232B"/>
                </a:solidFill>
                <a:latin typeface="Noto Sans CJK TC"/>
              </a:rPr>
              <a:t>RAG 2026：當向量搜尋遇上代理推理</a:t>
            </a:r>
            <a:endParaRPr sz="5500" b="0" i="0">
              <a:latin typeface="Noto Sans CJK TC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070350" y="8064500"/>
            <a:ext cx="9321800" cy="679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3700" b="0" i="0">
                <a:solidFill>
                  <a:srgbClr val="34383E"/>
                </a:solidFill>
                <a:latin typeface="Noto Sans CJK TC"/>
              </a:rPr>
              <a:t>企業級 99%準確度AI架構的演進與實踐指南</a:t>
            </a:r>
            <a:endParaRPr sz="3600" b="0" i="0">
              <a:latin typeface="Noto Sans CJK TC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6319500" y="9461500"/>
            <a:ext cx="1047750" cy="196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350" b="0" i="0">
                <a:solidFill>
                  <a:srgbClr val="4A4D54"/>
                </a:solidFill>
                <a:latin typeface="DejaVu Sans"/>
              </a:rPr>
              <a:t>NotebookLM</a:t>
            </a:r>
            <a:endParaRPr sz="1200" b="0" i="0">
              <a:latin typeface="DejaVu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68400" y="412750"/>
            <a:ext cx="15462250" cy="857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4700" b="0" i="0">
                <a:solidFill>
                  <a:srgbClr val="1E1F1F"/>
                </a:solidFill>
                <a:latin typeface="Noto Sans CJK TC"/>
              </a:rPr>
              <a:t>「上下文盲視」揭示了 RAG1.0建立在脆弱的統計假象之上</a:t>
            </a:r>
            <a:endParaRPr sz="4500" b="0" i="0">
              <a:latin typeface="Noto Sans CJK TC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848350" y="2101850"/>
            <a:ext cx="5759450" cy="425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600" b="0" i="0">
                <a:solidFill>
                  <a:srgbClr val="232425"/>
                </a:solidFill>
                <a:latin typeface="DejaVu Sans"/>
              </a:rPr>
              <a:t>The Anatomy of Context Blindness</a:t>
            </a:r>
            <a:endParaRPr sz="2500" b="0" i="0">
              <a:latin typeface="DejaVu San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743700" y="2806700"/>
            <a:ext cx="177800" cy="1651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B2B6B9"/>
                </a:solidFill>
                <a:latin typeface="Noto Sans CJK TC"/>
              </a:rPr>
              <a:t>中</a:t>
            </a:r>
            <a:endParaRPr sz="1300" b="0" i="0">
              <a:latin typeface="Noto Sans CJK TC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553700" y="2806700"/>
            <a:ext cx="184150" cy="171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250" b="0" i="0">
                <a:solidFill>
                  <a:srgbClr val="B2B7BD"/>
                </a:solidFill>
                <a:latin typeface="Noto Sans CJK TC"/>
              </a:rPr>
              <a:t>中</a:t>
            </a:r>
            <a:endParaRPr sz="1300" b="0" i="0">
              <a:latin typeface="Noto Sans CJK TC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931150" y="3346450"/>
            <a:ext cx="1619250" cy="285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600" b="0" i="0">
                <a:solidFill>
                  <a:srgbClr val="5F6A76"/>
                </a:solidFill>
                <a:latin typeface="DejaVu Sans"/>
              </a:rPr>
              <a:t>RRARNE</a:t>
            </a:r>
            <a:endParaRPr sz="2300" b="0" i="0">
              <a:latin typeface="DejaVu San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2706350" y="3384550"/>
            <a:ext cx="1720850" cy="520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3300" b="0" i="0">
                <a:solidFill>
                  <a:srgbClr val="F0F0F0"/>
                </a:solidFill>
                <a:latin typeface="Noto Sans CJK TC"/>
              </a:rPr>
              <a:t>根本原因</a:t>
            </a:r>
            <a:endParaRPr sz="3100" b="0" i="0">
              <a:latin typeface="Noto Sans CJK TC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63600" y="3403600"/>
            <a:ext cx="1682750" cy="4889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3150" b="0" i="0">
                <a:solidFill>
                  <a:srgbClr val="E4EDF2"/>
                </a:solidFill>
                <a:latin typeface="Noto Sans CJK TC"/>
              </a:rPr>
              <a:t>企業痛點</a:t>
            </a:r>
            <a:endParaRPr sz="3100" b="0" i="0">
              <a:latin typeface="Noto Sans CJK TC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15200" y="4038600"/>
            <a:ext cx="2838450" cy="4000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50" b="0" i="0">
                <a:solidFill>
                  <a:srgbClr val="2A261E"/>
                </a:solidFill>
                <a:latin typeface="Noto Sans CJK TC"/>
              </a:rPr>
              <a:t>核心規則(Core Rule)</a:t>
            </a:r>
            <a:endParaRPr sz="2300" b="0" i="0">
              <a:latin typeface="Noto Sans CJK TC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2712700" y="4349750"/>
            <a:ext cx="3562350" cy="406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50" b="0" i="0">
                <a:solidFill>
                  <a:srgbClr val="2C2C2C"/>
                </a:solidFill>
                <a:latin typeface="Noto Sans CJK TC"/>
              </a:rPr>
              <a:t>語義相似性≠事實正確性。</a:t>
            </a:r>
            <a:endParaRPr sz="2100" b="0" i="0">
              <a:latin typeface="Noto Sans CJK TC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82650" y="4425950"/>
            <a:ext cx="38354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550" b="0" i="0">
                <a:solidFill>
                  <a:srgbClr val="4A4A4A"/>
                </a:solidFill>
                <a:latin typeface="Noto Sans CJK TC"/>
              </a:rPr>
              <a:t>企業入數萬份文件，系統卻</a:t>
            </a:r>
            <a:endParaRPr sz="2300" b="0" i="0">
              <a:latin typeface="Noto Sans CJK TC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76300" y="4902200"/>
            <a:ext cx="3759200" cy="3619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50" b="0" i="0">
                <a:solidFill>
                  <a:srgbClr val="4A4A4A"/>
                </a:solidFill>
                <a:latin typeface="Noto Sans CJK TC"/>
              </a:rPr>
              <a:t>頻繁引用2023年的舊合約來</a:t>
            </a:r>
            <a:endParaRPr sz="2300" b="0" i="0">
              <a:latin typeface="Noto Sans CJK TC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934700" y="4965700"/>
            <a:ext cx="13716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000" b="0" i="0">
                <a:solidFill>
                  <a:srgbClr val="A35152"/>
                </a:solidFill>
                <a:latin typeface="Noto Sans CJK TC"/>
              </a:rPr>
              <a:t>切片演算法/</a:t>
            </a:r>
            <a:endParaRPr sz="1800" b="0" i="0">
              <a:latin typeface="Noto Sans CJK TC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2731750" y="5054600"/>
            <a:ext cx="38481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0" i="0">
                <a:solidFill>
                  <a:srgbClr val="4A4A4A"/>
                </a:solidFill>
                <a:latin typeface="Noto Sans CJK TC"/>
              </a:rPr>
              <a:t>向量空間的鄰近性僅代表詞彙</a:t>
            </a:r>
            <a:endParaRPr sz="2100" b="0" i="0">
              <a:latin typeface="Noto Sans CJK TC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680700" y="5321300"/>
            <a:ext cx="1676400" cy="2349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350" b="0" i="0">
                <a:solidFill>
                  <a:srgbClr val="56595C"/>
                </a:solidFill>
                <a:latin typeface="DejaVu Sans"/>
              </a:rPr>
              <a:t>Chunking Algorithm</a:t>
            </a:r>
            <a:endParaRPr sz="1200" b="0" i="0">
              <a:latin typeface="DejaVu San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69950" y="5346700"/>
            <a:ext cx="3422650" cy="3873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00" b="0" i="0">
                <a:solidFill>
                  <a:srgbClr val="464646"/>
                </a:solidFill>
                <a:latin typeface="Noto Sans CJK TC"/>
              </a:rPr>
              <a:t>回答2026年的決策問题。</a:t>
            </a:r>
            <a:endParaRPr sz="2200" b="0" i="0">
              <a:latin typeface="Noto Sans CJK TC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2731750" y="5518150"/>
            <a:ext cx="3848100" cy="374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50" b="0" i="0">
                <a:solidFill>
                  <a:srgbClr val="353535"/>
                </a:solidFill>
                <a:latin typeface="Noto Sans CJK TC"/>
              </a:rPr>
              <a:t>分佈的接近，完全無視邏輯真</a:t>
            </a:r>
            <a:endParaRPr sz="2100" b="0" i="0">
              <a:latin typeface="Noto Sans CJK TC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2738100" y="5988050"/>
            <a:ext cx="2628900" cy="3683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0" i="0">
                <a:solidFill>
                  <a:srgbClr val="2C2C2C"/>
                </a:solidFill>
                <a:latin typeface="Noto Sans CJK TC"/>
              </a:rPr>
              <a:t>實性與版本有效性。</a:t>
            </a:r>
            <a:endParaRPr sz="2100" b="0" i="0">
              <a:latin typeface="Noto Sans CJK TC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2744450" y="6800850"/>
            <a:ext cx="3848100" cy="3619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50" b="0" i="0">
                <a:solidFill>
                  <a:srgbClr val="404040"/>
                </a:solidFill>
                <a:latin typeface="Noto Sans CJK TC"/>
              </a:rPr>
              <a:t>單純的切片策略會導致準確度</a:t>
            </a:r>
            <a:endParaRPr sz="2100" b="0" i="0">
              <a:latin typeface="Noto Sans CJK TC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636000" y="6915150"/>
            <a:ext cx="12319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50" b="0" i="0">
                <a:solidFill>
                  <a:srgbClr val="2E2A24"/>
                </a:solidFill>
                <a:latin typeface="Noto Sans CJK TC"/>
              </a:rPr>
              <a:t>例外條款</a:t>
            </a:r>
            <a:endParaRPr sz="2200" b="0" i="0">
              <a:latin typeface="Noto Sans CJK TC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2731750" y="7258050"/>
            <a:ext cx="2146300" cy="374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00" b="0" i="0">
                <a:solidFill>
                  <a:srgbClr val="2D2D2D"/>
                </a:solidFill>
                <a:latin typeface="Noto Sans CJK TC"/>
              </a:rPr>
              <a:t>下降超過60%。</a:t>
            </a:r>
            <a:endParaRPr sz="2200" b="0" i="0">
              <a:latin typeface="Noto Sans CJK TC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956550" y="7315200"/>
            <a:ext cx="2603500" cy="3683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150" b="0" i="0">
                <a:solidFill>
                  <a:srgbClr val="27221A"/>
                </a:solidFill>
                <a:latin typeface="DejaVu Sans"/>
              </a:rPr>
              <a:t>(Exception Clause)</a:t>
            </a:r>
            <a:endParaRPr sz="2000" b="0" i="0">
              <a:latin typeface="DejaVu San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6287750" y="9474200"/>
            <a:ext cx="1073150" cy="177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350" b="0" i="0">
                <a:solidFill>
                  <a:srgbClr val="4A4E53"/>
                </a:solidFill>
                <a:latin typeface="DejaVu Sans"/>
              </a:rPr>
              <a:t>NotebookLM</a:t>
            </a:r>
            <a:endParaRPr sz="1300" b="0" i="0">
              <a:latin typeface="DejaVu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65200" y="742950"/>
            <a:ext cx="12890500" cy="857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4750" b="0" i="0">
                <a:solidFill>
                  <a:srgbClr val="070707"/>
                </a:solidFill>
                <a:latin typeface="Noto Sans CJK TC"/>
              </a:rPr>
              <a:t>向量資料庫依然是處理千萬級數據的極速堡壘</a:t>
            </a:r>
            <a:endParaRPr sz="4700" b="0" i="0">
              <a:latin typeface="Noto Sans CJK TC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276850" y="2019300"/>
            <a:ext cx="1479550" cy="501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950" b="0" i="0">
                <a:solidFill>
                  <a:srgbClr val="222223"/>
                </a:solidFill>
                <a:latin typeface="Noto Sans CJK TC"/>
              </a:rPr>
              <a:t>核心優勢</a:t>
            </a:r>
            <a:endParaRPr sz="2700" b="0" i="0">
              <a:latin typeface="Noto Sans CJK TC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315700" y="2019300"/>
            <a:ext cx="2133600" cy="4953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850" b="0" i="0">
                <a:solidFill>
                  <a:srgbClr val="1E1E1E"/>
                </a:solidFill>
                <a:latin typeface="Noto Sans CJK TC"/>
              </a:rPr>
              <a:t>最佳應用場景</a:t>
            </a:r>
            <a:endParaRPr sz="2600" b="0" i="0">
              <a:latin typeface="Noto Sans CJK TC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79500" y="2025650"/>
            <a:ext cx="1492250" cy="4953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950" b="0" i="0">
                <a:solidFill>
                  <a:srgbClr val="1B1B1B"/>
                </a:solidFill>
                <a:latin typeface="Noto Sans CJK TC"/>
              </a:rPr>
              <a:t>解决方案</a:t>
            </a:r>
            <a:endParaRPr sz="2700" b="0" i="0">
              <a:latin typeface="Noto Sans CJK TC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295900" y="2838450"/>
            <a:ext cx="4660900" cy="4889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650" b="0" i="0">
                <a:solidFill>
                  <a:srgbClr val="343434"/>
                </a:solidFill>
                <a:latin typeface="Noto Sans CJK TC"/>
              </a:rPr>
              <a:t>大規模RAG（穩定性舆擴展性）</a:t>
            </a:r>
            <a:endParaRPr sz="2500" b="0" i="0">
              <a:latin typeface="Noto Sans CJK TC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328400" y="2863850"/>
            <a:ext cx="2463800" cy="463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800" b="0" i="0">
                <a:solidFill>
                  <a:srgbClr val="363636"/>
                </a:solidFill>
                <a:latin typeface="Noto Sans CJK TC"/>
              </a:rPr>
              <a:t>企業級生產環境</a:t>
            </a:r>
            <a:endParaRPr sz="2600" b="0" i="0">
              <a:latin typeface="Noto Sans CJK TC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892300" y="2908300"/>
            <a:ext cx="1568450" cy="393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750" b="0" i="0">
                <a:solidFill>
                  <a:srgbClr val="282929"/>
                </a:solidFill>
                <a:latin typeface="DejaVu Sans"/>
              </a:rPr>
              <a:t>Pinecone</a:t>
            </a:r>
            <a:endParaRPr sz="2600" b="0" i="0">
              <a:latin typeface="DejaVu Sa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334750" y="3727450"/>
            <a:ext cx="2457450" cy="450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800" b="0" i="0">
                <a:solidFill>
                  <a:srgbClr val="353636"/>
                </a:solidFill>
                <a:latin typeface="Noto Sans CJK TC"/>
              </a:rPr>
              <a:t>合規性嚴格環境</a:t>
            </a:r>
            <a:endParaRPr sz="2500" b="0" i="0">
              <a:latin typeface="Noto Sans CJK TC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308600" y="3740150"/>
            <a:ext cx="4095750" cy="425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700" b="0" i="0">
                <a:solidFill>
                  <a:srgbClr val="363737"/>
                </a:solidFill>
                <a:latin typeface="Noto Sans CJK TC"/>
              </a:rPr>
              <a:t>混合搜尋精度(詞法+語義)</a:t>
            </a:r>
            <a:endParaRPr sz="2700" b="0" i="0">
              <a:latin typeface="Noto Sans CJK TC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892300" y="3759200"/>
            <a:ext cx="2044700" cy="463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600" b="0" i="0">
                <a:solidFill>
                  <a:srgbClr val="292A2A"/>
                </a:solidFill>
                <a:latin typeface="DejaVu Sans"/>
              </a:rPr>
              <a:t>OpenSearch</a:t>
            </a:r>
            <a:endParaRPr sz="2500" b="0" i="0">
              <a:latin typeface="DejaVu San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314950" y="4603750"/>
            <a:ext cx="2768600" cy="412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750" b="0" i="0">
                <a:solidFill>
                  <a:srgbClr val="333333"/>
                </a:solidFill>
                <a:latin typeface="Noto Sans CJK TC"/>
              </a:rPr>
              <a:t>現有資料庫集成度</a:t>
            </a:r>
            <a:endParaRPr sz="2500" b="0" i="0">
              <a:latin typeface="Noto Sans CJK TC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1341100" y="4616450"/>
            <a:ext cx="3105150" cy="412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750" b="0" i="0">
                <a:solidFill>
                  <a:srgbClr val="393A3A"/>
                </a:solidFill>
                <a:latin typeface="Noto Sans CJK TC"/>
              </a:rPr>
              <a:t>中小團隊與輕量開發</a:t>
            </a:r>
            <a:endParaRPr sz="2500" b="0" i="0">
              <a:latin typeface="Noto Sans CJK TC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98650" y="4648200"/>
            <a:ext cx="1549400" cy="374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650" b="0" i="0">
                <a:solidFill>
                  <a:srgbClr val="272928"/>
                </a:solidFill>
                <a:latin typeface="DejaVu Sans"/>
              </a:rPr>
              <a:t>PGVector</a:t>
            </a:r>
            <a:endParaRPr sz="2500" b="0" i="0">
              <a:latin typeface="DejaVu San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866900" y="5448300"/>
            <a:ext cx="1003300" cy="463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800" b="0" i="0">
                <a:solidFill>
                  <a:srgbClr val="282929"/>
                </a:solidFill>
                <a:latin typeface="DejaVu Sans"/>
              </a:rPr>
              <a:t>Redis</a:t>
            </a:r>
            <a:endParaRPr sz="2700" b="0" i="0">
              <a:latin typeface="DejaVu San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341100" y="5461000"/>
            <a:ext cx="3098800" cy="425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750" b="0" i="0">
                <a:solidFill>
                  <a:srgbClr val="3C3C3C"/>
                </a:solidFill>
                <a:latin typeface="Noto Sans CJK TC"/>
              </a:rPr>
              <a:t>實時應用與語義緩存</a:t>
            </a:r>
            <a:endParaRPr sz="2500" b="0" i="0">
              <a:latin typeface="Noto Sans CJK TC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308600" y="5467350"/>
            <a:ext cx="4400550" cy="4191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650" b="0" i="0">
                <a:solidFill>
                  <a:srgbClr val="353535"/>
                </a:solidFill>
                <a:latin typeface="Noto Sans CJK TC"/>
              </a:rPr>
              <a:t>極低延遲與內存運算（TTFT)</a:t>
            </a:r>
            <a:endParaRPr sz="2500" b="0" i="0">
              <a:latin typeface="Noto Sans CJK TC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1328400" y="6318250"/>
            <a:ext cx="3117850" cy="425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750" b="0" i="0">
                <a:solidFill>
                  <a:srgbClr val="3B3B3B"/>
                </a:solidFill>
                <a:latin typeface="Noto Sans CJK TC"/>
              </a:rPr>
              <a:t>邊緣運算與原型設計</a:t>
            </a:r>
            <a:endParaRPr sz="2500" b="0" i="0">
              <a:latin typeface="Noto Sans CJK TC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879600" y="6324600"/>
            <a:ext cx="1511300" cy="425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650" b="0" i="0">
                <a:solidFill>
                  <a:srgbClr val="262626"/>
                </a:solidFill>
                <a:latin typeface="DejaVu Sans"/>
              </a:rPr>
              <a:t>LanceDB</a:t>
            </a:r>
            <a:endParaRPr sz="2500" b="0" i="0">
              <a:latin typeface="DejaVu San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321300" y="6330950"/>
            <a:ext cx="2413000" cy="393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750" b="0" i="0">
                <a:solidFill>
                  <a:srgbClr val="383838"/>
                </a:solidFill>
                <a:latin typeface="Noto Sans CJK TC"/>
              </a:rPr>
              <a:t>本地優先靈活性</a:t>
            </a:r>
            <a:endParaRPr sz="2500" b="0" i="0">
              <a:latin typeface="Noto Sans CJK TC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048750" y="7435850"/>
            <a:ext cx="5600700" cy="450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950" b="0" i="0">
                <a:solidFill>
                  <a:srgbClr val="18110C"/>
                </a:solidFill>
                <a:latin typeface="Noto Sans CJK TC"/>
              </a:rPr>
              <a:t>結構性致命傷（TheFatal Flaw)</a:t>
            </a:r>
            <a:endParaRPr sz="3000" b="0" i="0">
              <a:latin typeface="Noto Sans CJK TC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048750" y="8089900"/>
            <a:ext cx="744855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50" b="0" i="0">
                <a:solidFill>
                  <a:srgbClr val="413E37"/>
                </a:solidFill>
                <a:latin typeface="Noto Sans CJK TC"/>
              </a:rPr>
              <a:t>索引延遲與上下文混淆。尋找「增加預算」時，系統常</a:t>
            </a:r>
            <a:endParaRPr sz="2200" b="0" i="0">
              <a:latin typeface="Noto Sans CJK TC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055100" y="8477250"/>
            <a:ext cx="5219700" cy="3873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50" b="0" i="0">
                <a:solidFill>
                  <a:srgbClr val="413D37"/>
                </a:solidFill>
                <a:latin typeface="Noto Sans CJK TC"/>
              </a:rPr>
              <a:t>因語義模糊撈出「削減開支」的片段。</a:t>
            </a:r>
            <a:endParaRPr sz="2200" b="0" i="0">
              <a:latin typeface="Noto Sans CJK TC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6332200" y="9474200"/>
            <a:ext cx="1028700" cy="171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300" b="0" i="0">
                <a:solidFill>
                  <a:srgbClr val="4C4F4F"/>
                </a:solidFill>
                <a:latin typeface="DejaVu Sans"/>
              </a:rPr>
              <a:t>NotebookLM</a:t>
            </a:r>
            <a:endParaRPr sz="1200" b="0" i="0">
              <a:latin typeface="DejaVu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