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7475200" cy="975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6350" y="1200150"/>
            <a:ext cx="22225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2950" y="12128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750" y="1504950"/>
            <a:ext cx="1612900" cy="196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6" b="0" i="0">
                <a:solidFill>
                  <a:srgbClr val="1F1F1F"/>
                </a:solidFill>
              </a:rPr>
              <a:t>AGENTIC LOGIC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3300" y="1695450"/>
            <a:ext cx="203200" cy="165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36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9050" y="1911350"/>
            <a:ext cx="203200" cy="17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1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2950" y="19113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E5E8EF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33200" y="2082800"/>
            <a:ext cx="2286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17150" y="2101850"/>
            <a:ext cx="266700" cy="2095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88" b="0" i="0">
                <a:solidFill>
                  <a:srgbClr val="1F1F1F"/>
                </a:solidFill>
              </a:rPr>
              <a:t>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700" y="2451100"/>
            <a:ext cx="144145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VECTOR EMBEDDINGS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35050" y="25908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CONTEXTUAL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8900" y="27622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35050" y="2857500"/>
            <a:ext cx="160655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PRECISION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035300"/>
            <a:ext cx="1397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03300" y="3695700"/>
            <a:ext cx="155575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C9CDD3"/>
                </a:solidFill>
              </a:rPr>
              <a:t>TARGET NODE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8050" y="3702050"/>
            <a:ext cx="1435100" cy="17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1" b="0" i="0">
                <a:solidFill>
                  <a:srgbClr val="1F1F1F"/>
                </a:solidFill>
              </a:rPr>
              <a:t>SENANTIC CLUSTERS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0800" y="3714750"/>
            <a:ext cx="19685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2950" y="3727450"/>
            <a:ext cx="177800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56" b="0" i="0">
                <a:solidFill>
                  <a:srgbClr val="E4E9EF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9850" y="4362450"/>
            <a:ext cx="127000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48" b="0" i="0">
                <a:solidFill>
                  <a:srgbClr val="1F1F1F"/>
                </a:solidFill>
              </a:rPr>
              <a:t>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5900" y="4457700"/>
            <a:ext cx="1905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64" b="0" i="0">
                <a:solidFill>
                  <a:srgbClr val="1F1F1F"/>
                </a:solidFill>
              </a:rPr>
              <a:t>AC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35050" y="47307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C7CCD1"/>
                </a:solidFill>
              </a:rPr>
              <a:t>TARGET NODE 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700" y="4768850"/>
            <a:ext cx="144145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VECTOR 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64950" y="5086350"/>
            <a:ext cx="165100" cy="139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92" b="0" i="0">
                <a:solidFill>
                  <a:srgbClr val="1F1F1F"/>
                </a:solidFill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9400" y="5130800"/>
            <a:ext cx="806450" cy="196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6" b="0" i="0">
                <a:solidFill>
                  <a:srgbClr val="1F1F1F"/>
                </a:solidFill>
              </a:rPr>
              <a:t>Fira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36200" y="5270500"/>
            <a:ext cx="234950" cy="1460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7" b="0" i="0">
                <a:solidFill>
                  <a:srgbClr val="E9E8DE"/>
                </a:solidFill>
              </a:rPr>
              <a:t>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68350" y="5340350"/>
            <a:ext cx="273050" cy="17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1" b="0" i="0">
                <a:solidFill>
                  <a:srgbClr val="E4E8EF"/>
                </a:solidFill>
              </a:rPr>
              <a:t>-10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45900" y="5638800"/>
            <a:ext cx="190500" cy="158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2750" y="5829300"/>
            <a:ext cx="1536700" cy="190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80" b="0" i="0">
                <a:solidFill>
                  <a:srgbClr val="1F1F1F"/>
                </a:solidFill>
              </a:rPr>
              <a:t>CONTEXTUAL ROUTING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2700" y="6197600"/>
            <a:ext cx="20955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64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19150" y="6216650"/>
            <a:ext cx="171450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48" b="0" i="0">
                <a:solidFill>
                  <a:srgbClr val="DDE2E7"/>
                </a:solidFill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0650" y="6375400"/>
            <a:ext cx="127000" cy="101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00" b="0" i="0">
                <a:solidFill>
                  <a:srgbClr val="1F1F1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9700" y="7010400"/>
            <a:ext cx="12103100" cy="990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1B6BB"/>
                </a:solidFill>
              </a:rPr>
              <a:t>RAG 2026：當向量搜尋遇上代理推理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0350" y="8064500"/>
            <a:ext cx="9321800" cy="679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C2C6CC"/>
                </a:solidFill>
              </a:rPr>
              <a:t>企業級 99%準確度AI架構的演進與實踐指南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319500" y="9461500"/>
            <a:ext cx="1047750" cy="196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6" b="0" i="0">
                <a:solidFill>
                  <a:srgbClr val="ACB0B7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400" y="412750"/>
            <a:ext cx="1546225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「上下文盲視」揭示了 RAG1.0建立在脆弱的統計假象之上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8350" y="2101850"/>
            <a:ext cx="5759450" cy="425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The Anatomy of Context Blindness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43700" y="2806700"/>
            <a:ext cx="177800" cy="165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36" b="0" i="0">
                <a:solidFill>
                  <a:srgbClr val="1F1F1F"/>
                </a:solidFill>
              </a:rPr>
              <a:t>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53700" y="2806700"/>
            <a:ext cx="184150" cy="17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1" b="0" i="0">
                <a:solidFill>
                  <a:srgbClr val="DDE1E7"/>
                </a:solidFill>
              </a:rPr>
              <a:t>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150" y="3346450"/>
            <a:ext cx="1619250" cy="285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CC4CB"/>
                </a:solidFill>
              </a:rPr>
              <a:t>RRARNE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6350" y="3384550"/>
            <a:ext cx="1720850" cy="520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根本原因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403600"/>
            <a:ext cx="1682750" cy="488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8693A3"/>
                </a:solidFill>
              </a:rPr>
              <a:t>企業痛點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038600"/>
            <a:ext cx="2838450" cy="4000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7B1A3"/>
                </a:solidFill>
              </a:rPr>
              <a:t>核心規則(Core Rule)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2700" y="4349750"/>
            <a:ext cx="3562350" cy="406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語義相似性≠事實正確性。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650" y="4425950"/>
            <a:ext cx="3835400" cy="381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企業入數萬份文件，系統卻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4902200"/>
            <a:ext cx="3759200" cy="361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頻繁引用2023年的舊合約來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34700" y="4965700"/>
            <a:ext cx="1371600" cy="323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D7B6B8"/>
                </a:solidFill>
              </a:rPr>
              <a:t>切片演算法/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31750" y="5054600"/>
            <a:ext cx="3848100" cy="381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向量空間的鄰近性僅代表詞彙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700" y="5321300"/>
            <a:ext cx="1676400" cy="234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32" b="0" i="0">
                <a:solidFill>
                  <a:srgbClr val="1F1F1F"/>
                </a:solidFill>
              </a:rPr>
              <a:t>Chunking 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950" y="5346700"/>
            <a:ext cx="3422650" cy="387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回答2026年的決策問题。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31750" y="5518150"/>
            <a:ext cx="3848100" cy="374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分佈的接近，完全無視邏輯真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38100" y="5988050"/>
            <a:ext cx="2628900" cy="368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實性與版本有效性。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44450" y="6800850"/>
            <a:ext cx="3848100" cy="361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單純的切片策略會導致準確度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0" y="6915150"/>
            <a:ext cx="1231900" cy="381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A39F92"/>
                </a:solidFill>
              </a:rPr>
              <a:t>例外條款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31750" y="7258050"/>
            <a:ext cx="2146300" cy="374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下降超過60%。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6550" y="7315200"/>
            <a:ext cx="2603500" cy="368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8B2A3"/>
                </a:solidFill>
              </a:rPr>
              <a:t>(Exception Clause)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87750" y="9474200"/>
            <a:ext cx="1073150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08" b="0" i="0">
                <a:solidFill>
                  <a:srgbClr val="A6ABB0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5200" y="742950"/>
            <a:ext cx="12890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向量資料庫依然是處理千萬級數據的極速堡壘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6850" y="2019300"/>
            <a:ext cx="1479550" cy="501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核心優勢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15700" y="2019300"/>
            <a:ext cx="2133600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最佳應用場景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9500" y="2025650"/>
            <a:ext cx="1492250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5900" y="2838450"/>
            <a:ext cx="4660900" cy="488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大規模RAG（穩定性舆擴展性）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8400" y="2863850"/>
            <a:ext cx="2463800" cy="4635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企業級生產環境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300" y="2908300"/>
            <a:ext cx="1568450" cy="393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Pinecone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4750" y="3727450"/>
            <a:ext cx="2457450" cy="450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合規性嚴格環境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8600" y="3740150"/>
            <a:ext cx="4095750" cy="425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混合搜尋精度(詞法+語義)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300" y="3759200"/>
            <a:ext cx="2044700" cy="4635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OpenSearch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4950" y="4603750"/>
            <a:ext cx="2768600" cy="412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現有資料庫集成度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41100" y="4616450"/>
            <a:ext cx="3105150" cy="412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中小團隊與輕量開發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8650" y="4648200"/>
            <a:ext cx="1549400" cy="374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PGVector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6900" y="5448300"/>
            <a:ext cx="1003300" cy="4635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Redis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41100" y="5461000"/>
            <a:ext cx="3098800" cy="425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實時應用與語義緩存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5467350"/>
            <a:ext cx="4400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極低延遲與內存運算（TTFT)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8400" y="6318250"/>
            <a:ext cx="3117850" cy="425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邊緣運算與原型設計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9600" y="6324600"/>
            <a:ext cx="1511300" cy="425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LanceDB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300" y="6330950"/>
            <a:ext cx="2413000" cy="393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</a:rPr>
              <a:t>本地優先靈活性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0" y="7435850"/>
            <a:ext cx="5600700" cy="450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A5977D"/>
                </a:solidFill>
              </a:rPr>
              <a:t>結構性致命傷（TheFatal Flaw)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8089900"/>
            <a:ext cx="7448550" cy="381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CB8AE"/>
                </a:solidFill>
              </a:rPr>
              <a:t>索引延遲與上下文混淆。尋找「增加預算」時，系統常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5100" y="8477250"/>
            <a:ext cx="5219700" cy="387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 i="0">
                <a:solidFill>
                  <a:srgbClr val="B9B5AB"/>
                </a:solidFill>
              </a:rPr>
              <a:t>因語義模糊撈出「削減開支」的片段。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32200" y="9474200"/>
            <a:ext cx="1028700" cy="17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1" b="0" i="0">
                <a:solidFill>
                  <a:srgbClr val="1F1F1F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