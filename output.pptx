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7475200" cy="975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06500" y="6057900"/>
            <a:ext cx="15036800" cy="15557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600" b="0" i="0">
                <a:solidFill>
                  <a:srgbClr val="040A17"/>
                </a:solidFill>
                <a:latin typeface="Noto Sans CJK TC"/>
                <a:ea typeface="Noto Sans CJK TC"/>
                <a:cs typeface="Noto Sans CJK TC"/>
              </a:rPr>
              <a:t>金融業生成式AI平台工程</a:t>
            </a:r>
            <a:endParaRPr sz="96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06550" y="7594600"/>
            <a:ext cx="14300200" cy="8953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5300" b="0" i="0">
                <a:solidFill>
                  <a:srgbClr val="070B16"/>
                </a:solidFill>
                <a:latin typeface="Noto Sans CJK TC"/>
                <a:ea typeface="Noto Sans CJK TC"/>
                <a:cs typeface="Noto Sans CJK TC"/>
              </a:rPr>
              <a:t>以雲端原生架構打造可擴展的 Agentic AI 中樞</a:t>
            </a:r>
            <a:endParaRPr sz="53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11750" y="8985250"/>
            <a:ext cx="7239000" cy="3238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393938"/>
                </a:solidFill>
                <a:latin typeface="Noto Sans CJK TC"/>
                <a:ea typeface="Noto Sans CJK TC"/>
                <a:cs typeface="Noto Sans CJK TC"/>
              </a:rPr>
              <a:t>從PoC工具到可治理、可觀測、可驗證的金融級AI平台</a:t>
            </a:r>
            <a:endParaRPr sz="22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129000" y="9486900"/>
            <a:ext cx="1212850" cy="1524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4B4A47"/>
                </a:solidFill>
                <a:latin typeface="DejaVu Sans"/>
                <a:ea typeface="DejaVu Sans"/>
                <a:cs typeface="DejaVu Sans"/>
              </a:rPr>
              <a:t>ANotebookLM</a:t>
            </a:r>
            <a:endParaRPr sz="1000" b="1" i="0">
              <a:latin typeface="DejaVu Sans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5400" y="1320800"/>
            <a:ext cx="4984750" cy="469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141311"/>
                </a:solidFill>
                <a:latin typeface="Noto Sans CJK TC"/>
                <a:ea typeface="Noto Sans CJK TC"/>
                <a:cs typeface="Noto Sans CJK TC"/>
              </a:rPr>
              <a:t>客戶現場。遇到IT作業問題。</a:t>
            </a:r>
            <a:endParaRPr sz="28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20800" y="1847850"/>
            <a:ext cx="3651250" cy="431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151412"/>
                </a:solidFill>
                <a:latin typeface="Noto Sans CJK TC"/>
                <a:ea typeface="Noto Sans CJK TC"/>
                <a:cs typeface="Noto Sans CJK TC"/>
              </a:rPr>
              <a:t>不能打字、不能慢等。</a:t>
            </a:r>
            <a:endParaRPr sz="27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705850" y="2743200"/>
            <a:ext cx="6299200" cy="685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200" b="1" i="0">
                <a:solidFill>
                  <a:srgbClr val="994D3C"/>
                </a:solidFill>
                <a:latin typeface="Noto Sans CJK TC"/>
                <a:ea typeface="Noto Sans CJK TC"/>
                <a:cs typeface="Noto Sans CJK TC"/>
              </a:rPr>
              <a:t>這不是聊天機器人測試，</a:t>
            </a:r>
            <a:endParaRPr sz="42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99500" y="3524250"/>
            <a:ext cx="7594600" cy="6604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400" b="1" i="0">
                <a:solidFill>
                  <a:srgbClr val="994C3B"/>
                </a:solidFill>
                <a:latin typeface="Noto Sans CJK TC"/>
                <a:ea typeface="Noto Sans CJK TC"/>
                <a:cs typeface="Noto Sans CJK TC"/>
              </a:rPr>
              <a:t>這是AI進入營運現場的考驗。</a:t>
            </a:r>
            <a:endParaRPr sz="44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58250" y="5130800"/>
            <a:ext cx="2044700" cy="4064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1F1F1C"/>
                </a:solidFill>
                <a:latin typeface="Noto Sans CJK TC"/>
                <a:ea typeface="Noto Sans CJK TC"/>
                <a:cs typeface="Noto Sans CJK TC"/>
              </a:rPr>
              <a:t>聽懂自然語音</a:t>
            </a:r>
            <a:endParaRPr sz="25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931900" y="5143500"/>
            <a:ext cx="2362200" cy="374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1F1E1C"/>
                </a:solidFill>
                <a:latin typeface="Noto Sans CJK TC"/>
                <a:ea typeface="Noto Sans CJK TC"/>
                <a:cs typeface="Noto Sans CJK TC"/>
              </a:rPr>
              <a:t>判斷證據充足度</a:t>
            </a:r>
            <a:endParaRPr sz="24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04600" y="5149850"/>
            <a:ext cx="2032000" cy="3683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1D1D1A"/>
                </a:solidFill>
                <a:latin typeface="Noto Sans CJK TC"/>
                <a:ea typeface="Noto Sans CJK TC"/>
                <a:cs typeface="Noto Sans CJK TC"/>
              </a:rPr>
              <a:t>查證內部知識</a:t>
            </a:r>
            <a:endParaRPr sz="25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1650" y="5200650"/>
            <a:ext cx="171450" cy="1333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656863"/>
                </a:solidFill>
                <a:latin typeface="DejaVu Sans"/>
                <a:ea typeface="DejaVu Sans"/>
                <a:cs typeface="DejaVu Sans"/>
              </a:rPr>
              <a:t>□</a:t>
            </a:r>
            <a:endParaRPr sz="11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61750" y="6172200"/>
            <a:ext cx="2711450" cy="4000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1C1C1A"/>
                </a:solidFill>
                <a:latin typeface="Noto Sans CJK TC"/>
                <a:ea typeface="Noto Sans CJK TC"/>
                <a:cs typeface="Noto Sans CJK TC"/>
              </a:rPr>
              <a:t>完整留存追蹤紀錄</a:t>
            </a:r>
            <a:endParaRPr sz="25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83650" y="6184900"/>
            <a:ext cx="2019300" cy="374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1A1A17"/>
                </a:solidFill>
                <a:latin typeface="Noto Sans CJK TC"/>
                <a:ea typeface="Noto Sans CJK TC"/>
                <a:cs typeface="Noto Sans CJK TC"/>
              </a:rPr>
              <a:t>具備拒答機制</a:t>
            </a:r>
            <a:endParaRPr sz="24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41700" y="7258050"/>
            <a:ext cx="3816350" cy="3238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3E3D38"/>
                </a:solidFill>
                <a:latin typeface="Noto Sans CJK TC"/>
                <a:ea typeface="Noto Sans CJK TC"/>
                <a:cs typeface="Noto Sans CJK TC"/>
              </a:rPr>
              <a:t>我要怎麼申請某個系統權限？</a:t>
            </a:r>
            <a:endParaRPr sz="21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41700" y="7677150"/>
            <a:ext cx="3822700" cy="304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3F3E39"/>
                </a:solidFill>
                <a:latin typeface="Noto Sans CJK TC"/>
                <a:ea typeface="Noto Sans CJK TC"/>
                <a:cs typeface="Noto Sans CJK TC"/>
              </a:rPr>
              <a:t>這個錯誤訊息要找哪個窗口？</a:t>
            </a:r>
            <a:endParaRPr sz="21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103600" y="9474200"/>
            <a:ext cx="1250950" cy="1841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4D4C48"/>
                </a:solidFill>
                <a:latin typeface="DejaVu Sans"/>
                <a:ea typeface="DejaVu Sans"/>
                <a:cs typeface="DejaVu Sans"/>
              </a:rPr>
              <a:t>NotebookLM</a:t>
            </a:r>
            <a:endParaRPr sz="1200" b="1" i="0">
              <a:latin typeface="DejaVu Sans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736600"/>
            <a:ext cx="8559800" cy="901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5600" b="1" i="0">
                <a:solidFill>
                  <a:srgbClr val="33322D"/>
                </a:solidFill>
                <a:latin typeface="Noto Sans CJK TC"/>
                <a:ea typeface="Noto Sans CJK TC"/>
                <a:cs typeface="Noto Sans CJK TC"/>
              </a:rPr>
              <a:t>金融AI 落地的三條生死線</a:t>
            </a:r>
            <a:endParaRPr sz="56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410700" y="2311400"/>
            <a:ext cx="1130300" cy="4381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0D0D09"/>
                </a:solidFill>
                <a:latin typeface="Noto Sans CJK TC"/>
                <a:ea typeface="Noto Sans CJK TC"/>
                <a:cs typeface="Noto Sans CJK TC"/>
              </a:rPr>
              <a:t>合規性</a:t>
            </a:r>
            <a:endParaRPr sz="27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97900" y="2540000"/>
            <a:ext cx="273050" cy="3175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47443E"/>
                </a:solidFill>
                <a:latin typeface="Noto Sans CJK TC"/>
                <a:ea typeface="Noto Sans CJK TC"/>
                <a:cs typeface="Noto Sans CJK TC"/>
              </a:rPr>
              <a:t>凸</a:t>
            </a:r>
            <a:endParaRPr sz="20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23400" y="2813050"/>
            <a:ext cx="3581400" cy="2984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800" b="0" i="0">
                <a:solidFill>
                  <a:srgbClr val="77746A"/>
                </a:solidFill>
                <a:latin typeface="Noto Sans CJK TC"/>
                <a:ea typeface="Noto Sans CJK TC"/>
                <a:cs typeface="Noto Sans CJK TC"/>
              </a:rPr>
              <a:t>資料主權、稽核軌跡、可追溯性</a:t>
            </a:r>
            <a:endParaRPr sz="18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29700" y="5607050"/>
            <a:ext cx="1295400" cy="361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282723"/>
                </a:solidFill>
                <a:latin typeface="Noto Sans CJK TC"/>
                <a:ea typeface="Noto Sans CJK TC"/>
                <a:cs typeface="Noto Sans CJK TC"/>
              </a:rPr>
              <a:t>可營運AI</a:t>
            </a:r>
            <a:endParaRPr sz="24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62600" y="7181850"/>
            <a:ext cx="749300" cy="717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5900" b="1" i="0">
                <a:solidFill>
                  <a:srgbClr val="4B4942"/>
                </a:solidFill>
                <a:latin typeface="DejaVu Sans"/>
                <a:ea typeface="DejaVu Sans"/>
                <a:cs typeface="DejaVu Sans"/>
              </a:rPr>
              <a:t>X</a:t>
            </a:r>
            <a:endParaRPr sz="5900" b="1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08450" y="7188200"/>
            <a:ext cx="1162050" cy="4572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151412"/>
                </a:solidFill>
                <a:latin typeface="Noto Sans CJK TC"/>
                <a:ea typeface="Noto Sans CJK TC"/>
                <a:cs typeface="Noto Sans CJK TC"/>
              </a:rPr>
              <a:t>整合性</a:t>
            </a:r>
            <a:endParaRPr sz="28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204700" y="7200900"/>
            <a:ext cx="1149350" cy="4381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131310"/>
                </a:solidFill>
                <a:latin typeface="Noto Sans CJK TC"/>
                <a:ea typeface="Noto Sans CJK TC"/>
                <a:cs typeface="Noto Sans CJK TC"/>
              </a:rPr>
              <a:t>即時性</a:t>
            </a:r>
            <a:endParaRPr sz="28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223750" y="7696200"/>
            <a:ext cx="3962400" cy="3175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900" b="0" i="0">
                <a:solidFill>
                  <a:srgbClr val="706E65"/>
                </a:solidFill>
                <a:latin typeface="Noto Sans CJK TC"/>
                <a:ea typeface="Noto Sans CJK TC"/>
                <a:cs typeface="Noto Sans CJK TC"/>
              </a:rPr>
              <a:t>高品質RAG帶來的延遲與成本挑戰</a:t>
            </a:r>
            <a:endParaRPr sz="19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65350" y="7702550"/>
            <a:ext cx="3073400" cy="2984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800" b="0" i="0">
                <a:solidFill>
                  <a:srgbClr val="76746B"/>
                </a:solidFill>
                <a:latin typeface="Noto Sans CJK TC"/>
                <a:ea typeface="Noto Sans CJK TC"/>
                <a:cs typeface="Noto Sans CJK TC"/>
              </a:rPr>
              <a:t>跨系統、跨部門、跨資料源</a:t>
            </a:r>
            <a:endParaRPr sz="18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455150" y="8820150"/>
            <a:ext cx="7296150" cy="361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282724"/>
                </a:solidFill>
                <a:latin typeface="Noto Sans CJK TC"/>
                <a:ea typeface="Noto Sans CJK TC"/>
                <a:cs typeface="Noto Sans CJK TC"/>
              </a:rPr>
              <a:t>問題不是做不出AI，而是無法通過真實營運條件的檢驗。</a:t>
            </a:r>
            <a:endParaRPr sz="21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351250" y="9486900"/>
            <a:ext cx="996950" cy="1524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484743"/>
                </a:solidFill>
                <a:latin typeface="DejaVu Sans"/>
                <a:ea typeface="DejaVu Sans"/>
                <a:cs typeface="DejaVu Sans"/>
              </a:rPr>
              <a:t>NotebookLM</a:t>
            </a:r>
            <a:endParaRPr sz="900" b="1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122650" y="9499600"/>
            <a:ext cx="171450" cy="1270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4A4846"/>
                </a:solidFill>
                <a:latin typeface="DejaVu Sans"/>
                <a:ea typeface="DejaVu Sans"/>
                <a:cs typeface="DejaVu Sans"/>
              </a:rPr>
              <a:t>0</a:t>
            </a:r>
            <a:endParaRPr sz="1100" b="1" i="0">
              <a:latin typeface="DejaVu Sans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89000" y="939800"/>
            <a:ext cx="7969250" cy="901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5600" b="1" i="0">
                <a:solidFill>
                  <a:srgbClr val="2A2923"/>
                </a:solidFill>
                <a:latin typeface="Noto Sans CJK TC"/>
                <a:ea typeface="Noto Sans CJK TC"/>
                <a:cs typeface="Noto Sans CJK TC"/>
              </a:rPr>
              <a:t>為什麼 AI 專案往往卡在</a:t>
            </a:r>
            <a:endParaRPr sz="56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407650" y="996950"/>
            <a:ext cx="2349500" cy="8255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5800" b="1" i="0">
                <a:solidFill>
                  <a:srgbClr val="2B2923"/>
                </a:solidFill>
                <a:latin typeface="Noto Sans CJK TC"/>
                <a:ea typeface="Noto Sans CJK TC"/>
                <a:cs typeface="Noto Sans CJK TC"/>
              </a:rPr>
              <a:t>階段？</a:t>
            </a:r>
            <a:endParaRPr sz="58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21750" y="1054100"/>
            <a:ext cx="1752600" cy="717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5900" b="1" i="0">
                <a:solidFill>
                  <a:srgbClr val="2B2924"/>
                </a:solidFill>
                <a:latin typeface="DejaVu Sans"/>
                <a:ea typeface="DejaVu Sans"/>
                <a:cs typeface="DejaVu Sans"/>
              </a:rPr>
              <a:t>PoC</a:t>
            </a:r>
            <a:endParaRPr sz="5900" b="1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6000" y="2514600"/>
            <a:ext cx="812800" cy="469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3000" b="0" i="0">
                <a:solidFill>
                  <a:srgbClr val="21211E"/>
                </a:solidFill>
                <a:latin typeface="Noto Sans CJK TC"/>
                <a:ea typeface="Noto Sans CJK TC"/>
                <a:cs typeface="Noto Sans CJK TC"/>
              </a:rPr>
              <a:t>斷點</a:t>
            </a:r>
            <a:endParaRPr sz="30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788900" y="2514600"/>
            <a:ext cx="1866900" cy="4381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131310"/>
                </a:solidFill>
                <a:latin typeface="Noto Sans CJK TC"/>
                <a:ea typeface="Noto Sans CJK TC"/>
                <a:cs typeface="Noto Sans CJK TC"/>
              </a:rPr>
              <a:t>平台級解法</a:t>
            </a:r>
            <a:endParaRPr sz="27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59350" y="2533650"/>
            <a:ext cx="1504950" cy="4254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11110F"/>
                </a:solidFill>
                <a:latin typeface="Noto Sans CJK TC"/>
                <a:ea typeface="Noto Sans CJK TC"/>
                <a:cs typeface="Noto Sans CJK TC"/>
              </a:rPr>
              <a:t>表面問題</a:t>
            </a:r>
            <a:endParaRPr sz="27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90000" y="2546350"/>
            <a:ext cx="1485900" cy="4000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181815"/>
                </a:solidFill>
                <a:latin typeface="Noto Sans CJK TC"/>
                <a:ea typeface="Noto Sans CJK TC"/>
                <a:cs typeface="Noto Sans CJK TC"/>
              </a:rPr>
              <a:t>真正問題</a:t>
            </a:r>
            <a:endParaRPr sz="27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74250" y="3384550"/>
            <a:ext cx="2286000" cy="4254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2C2C29"/>
                </a:solidFill>
                <a:latin typeface="Noto Sans CJK TC"/>
                <a:ea typeface="Noto Sans CJK TC"/>
                <a:cs typeface="Noto Sans CJK TC"/>
              </a:rPr>
              <a:t>無法規模化使</a:t>
            </a:r>
            <a:endParaRPr sz="28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769850" y="3384550"/>
            <a:ext cx="2203450" cy="463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20201D"/>
                </a:solidFill>
                <a:latin typeface="DejaVu Sans"/>
                <a:ea typeface="DejaVu Sans"/>
                <a:cs typeface="DejaVu Sans"/>
              </a:rPr>
              <a:t>MCP (Model</a:t>
            </a:r>
            <a:endParaRPr sz="28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02700" y="3441700"/>
            <a:ext cx="1174750" cy="3683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232320"/>
                </a:solidFill>
                <a:latin typeface="DejaVu Sans"/>
                <a:ea typeface="DejaVu Sans"/>
                <a:cs typeface="DejaVu Sans"/>
              </a:rPr>
              <a:t>Agent</a:t>
            </a:r>
            <a:endParaRPr sz="29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5050" y="3619500"/>
            <a:ext cx="1498600" cy="4445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31302D"/>
                </a:solidFill>
                <a:latin typeface="Noto Sans CJK TC"/>
                <a:ea typeface="Noto Sans CJK TC"/>
                <a:cs typeface="Noto Sans CJK TC"/>
              </a:rPr>
              <a:t>系統孤島</a:t>
            </a:r>
            <a:endParaRPr sz="27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78400" y="3663950"/>
            <a:ext cx="3587750" cy="3683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2C2C29"/>
                </a:solidFill>
                <a:latin typeface="Noto Sans CJK TC"/>
                <a:ea typeface="Noto Sans CJK TC"/>
                <a:cs typeface="Noto Sans CJK TC"/>
              </a:rPr>
              <a:t>每個 API都要客製串接</a:t>
            </a:r>
            <a:endParaRPr sz="27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769850" y="3905250"/>
            <a:ext cx="3067050" cy="431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23221F"/>
                </a:solidFill>
                <a:latin typeface="DejaVu Sans"/>
                <a:ea typeface="DejaVu Sans"/>
                <a:cs typeface="DejaVu Sans"/>
              </a:rPr>
              <a:t>Context Protocol)</a:t>
            </a:r>
            <a:endParaRPr sz="26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877300" y="3930650"/>
            <a:ext cx="1143000" cy="4064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292825"/>
                </a:solidFill>
                <a:latin typeface="Noto Sans CJK TC"/>
                <a:ea typeface="Noto Sans CJK TC"/>
                <a:cs typeface="Noto Sans CJK TC"/>
              </a:rPr>
              <a:t>用工具</a:t>
            </a:r>
            <a:endParaRPr sz="28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883650" y="4832350"/>
            <a:ext cx="2952750" cy="4000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2C2C29"/>
                </a:solidFill>
                <a:latin typeface="Noto Sans CJK TC"/>
                <a:ea typeface="Noto Sans CJK TC"/>
                <a:cs typeface="Noto Sans CJK TC"/>
              </a:rPr>
              <a:t>缺少自我校正與證</a:t>
            </a:r>
            <a:endParaRPr sz="27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16000" y="5041900"/>
            <a:ext cx="1619250" cy="469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3100" b="0" i="0">
                <a:solidFill>
                  <a:srgbClr val="2A2926"/>
                </a:solidFill>
                <a:latin typeface="Noto Sans CJK TC"/>
                <a:ea typeface="Noto Sans CJK TC"/>
                <a:cs typeface="Noto Sans CJK TC"/>
              </a:rPr>
              <a:t>線性RAG</a:t>
            </a:r>
            <a:endParaRPr sz="31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769850" y="5048250"/>
            <a:ext cx="3308350" cy="463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282724"/>
                </a:solidFill>
                <a:latin typeface="Noto Sans CJK TC"/>
                <a:ea typeface="Noto Sans CJK TC"/>
                <a:cs typeface="Noto Sans CJK TC"/>
              </a:rPr>
              <a:t>Agentic RAG工作流</a:t>
            </a:r>
            <a:endParaRPr sz="28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78400" y="5060950"/>
            <a:ext cx="3581400" cy="3873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31302D"/>
                </a:solidFill>
                <a:latin typeface="Noto Sans CJK TC"/>
                <a:ea typeface="Noto Sans CJK TC"/>
                <a:cs typeface="Noto Sans CJK TC"/>
              </a:rPr>
              <a:t>回答看似合理但不可驗</a:t>
            </a:r>
            <a:endParaRPr sz="26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870950" y="5346700"/>
            <a:ext cx="1162050" cy="4381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31312E"/>
                </a:solidFill>
                <a:latin typeface="Noto Sans CJK TC"/>
                <a:ea typeface="Noto Sans CJK TC"/>
                <a:cs typeface="Noto Sans CJK TC"/>
              </a:rPr>
              <a:t>據檢查</a:t>
            </a:r>
            <a:endParaRPr sz="28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940300" y="5492750"/>
            <a:ext cx="438150" cy="4381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3200" b="0" i="0">
                <a:solidFill>
                  <a:srgbClr val="363531"/>
                </a:solidFill>
                <a:latin typeface="Noto Sans CJK TC"/>
                <a:ea typeface="Noto Sans CJK TC"/>
                <a:cs typeface="Noto Sans CJK TC"/>
              </a:rPr>
              <a:t>證</a:t>
            </a:r>
            <a:endParaRPr sz="32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64600" y="6223000"/>
            <a:ext cx="2990850" cy="4508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3400" b="0" i="0">
                <a:solidFill>
                  <a:srgbClr val="30302C"/>
                </a:solidFill>
                <a:latin typeface="Noto Sans CJK TC"/>
                <a:ea typeface="Noto Sans CJK TC"/>
                <a:cs typeface="Noto Sans CJK TC"/>
              </a:rPr>
              <a:t>稽核資安法遵</a:t>
            </a:r>
            <a:endParaRPr sz="36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78400" y="6375400"/>
            <a:ext cx="3562350" cy="361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2F2E2C"/>
                </a:solidFill>
                <a:latin typeface="Noto Sans CJK TC"/>
                <a:ea typeface="Noto Sans CJK TC"/>
                <a:cs typeface="Noto Sans CJK TC"/>
              </a:rPr>
              <a:t>無法解釋資料與工具來</a:t>
            </a:r>
            <a:endParaRPr sz="26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776200" y="6451600"/>
            <a:ext cx="2844800" cy="482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282724"/>
                </a:solidFill>
                <a:latin typeface="DejaVu Sans"/>
                <a:ea typeface="DejaVu Sans"/>
                <a:cs typeface="DejaVu Sans"/>
              </a:rPr>
              <a:t>Agent Trace 留痕</a:t>
            </a:r>
            <a:endParaRPr sz="28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8700" y="6483350"/>
            <a:ext cx="1212850" cy="431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3100" b="0" i="0">
                <a:solidFill>
                  <a:srgbClr val="2C2C29"/>
                </a:solidFill>
                <a:latin typeface="Noto Sans CJK TC"/>
                <a:ea typeface="Noto Sans CJK TC"/>
                <a:cs typeface="Noto Sans CJK TC"/>
              </a:rPr>
              <a:t>黑盒AI</a:t>
            </a:r>
            <a:endParaRPr sz="31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70950" y="6762750"/>
            <a:ext cx="1511300" cy="4254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2A2A27"/>
                </a:solidFill>
                <a:latin typeface="Noto Sans CJK TC"/>
                <a:ea typeface="Noto Sans CJK TC"/>
                <a:cs typeface="Noto Sans CJK TC"/>
              </a:rPr>
              <a:t>擋下上線</a:t>
            </a:r>
            <a:endParaRPr sz="27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946650" y="6800850"/>
            <a:ext cx="419100" cy="4191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3100" b="0" i="0">
                <a:solidFill>
                  <a:srgbClr val="32322E"/>
                </a:solidFill>
                <a:latin typeface="Noto Sans CJK TC"/>
                <a:ea typeface="Noto Sans CJK TC"/>
                <a:cs typeface="Noto Sans CJK TC"/>
              </a:rPr>
              <a:t>源</a:t>
            </a:r>
            <a:endParaRPr sz="31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9950" y="8166100"/>
            <a:ext cx="15093950" cy="755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800" b="1" i="0">
                <a:solidFill>
                  <a:srgbClr val="984D36"/>
                </a:solidFill>
                <a:latin typeface="Noto Sans CJK TC"/>
                <a:ea typeface="Noto Sans CJK TC"/>
                <a:cs typeface="Noto Sans CJK TC"/>
              </a:rPr>
              <a:t>突破這三個斷點，需要的是平台工程，而非單一模型</a:t>
            </a:r>
            <a:endParaRPr sz="48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6325850" y="9486900"/>
            <a:ext cx="1016000" cy="1524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484745"/>
                </a:solidFill>
                <a:latin typeface="DejaVu Sans"/>
                <a:ea typeface="DejaVu Sans"/>
                <a:cs typeface="DejaVu Sans"/>
              </a:rPr>
              <a:t>NotebookLM</a:t>
            </a:r>
            <a:endParaRPr sz="1000" b="1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135350" y="9505950"/>
            <a:ext cx="209550" cy="120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504F4C"/>
                </a:solidFill>
                <a:latin typeface="DejaVu Sans"/>
                <a:ea typeface="DejaVu Sans"/>
                <a:cs typeface="DejaVu Sans"/>
              </a:rPr>
              <a:t>A</a:t>
            </a:r>
            <a:endParaRPr sz="1000" b="1" i="0">
              <a:latin typeface="DejaVu Sans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4050" y="850900"/>
            <a:ext cx="11931650" cy="1028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5500" b="1" i="0">
                <a:solidFill>
                  <a:srgbClr val="302D29"/>
                </a:solidFill>
                <a:latin typeface="Noto Sans CJK TC"/>
                <a:ea typeface="Noto Sans CJK TC"/>
                <a:cs typeface="Noto Sans CJK TC"/>
              </a:rPr>
              <a:t>以雲端原生架構打造 Agentic AI 中樞</a:t>
            </a:r>
            <a:endParaRPr sz="55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11450" y="3403600"/>
            <a:ext cx="11804650" cy="4381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282824"/>
                </a:solidFill>
                <a:latin typeface="DejaVu Sans"/>
                <a:ea typeface="DejaVu Sans"/>
                <a:cs typeface="DejaVu Sans"/>
              </a:rPr>
              <a:t>Production Governance Layer (Audit Traill / PIl Filter / Human-in-the-loop)</a:t>
            </a:r>
            <a:endParaRPr sz="24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73350" y="4711700"/>
            <a:ext cx="11988800" cy="4254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282824"/>
                </a:solidFill>
                <a:latin typeface="DejaVu Sans"/>
                <a:ea typeface="DejaVu Sans"/>
                <a:cs typeface="DejaVu Sans"/>
              </a:rPr>
              <a:t>Agentic Orchestration Layer (LangGraph / QueryRouter /validate /rewrite)</a:t>
            </a:r>
            <a:endParaRPr sz="24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92450" y="6000750"/>
            <a:ext cx="11125200" cy="4381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282724"/>
                </a:solidFill>
                <a:latin typeface="DejaVu Sans"/>
                <a:ea typeface="DejaVu Sans"/>
                <a:cs typeface="DejaVu Sans"/>
              </a:rPr>
              <a:t>Knowledge Layer (PDF Parsing / Semantic Chunking / Hybrid Search)</a:t>
            </a:r>
            <a:endParaRPr sz="24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05200" y="7327900"/>
            <a:ext cx="10331450" cy="4064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282724"/>
                </a:solidFill>
                <a:latin typeface="DejaVu Sans"/>
                <a:ea typeface="DejaVu Sans"/>
                <a:cs typeface="DejaVu Sans"/>
              </a:rPr>
              <a:t>Integration Layer (MCP / Tool Calling / M365 / Internal Systems)</a:t>
            </a:r>
            <a:endParaRPr sz="24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0" y="8616950"/>
            <a:ext cx="10128250" cy="4000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272623"/>
                </a:solidFill>
                <a:latin typeface="DejaVu Sans"/>
                <a:ea typeface="DejaVu Sans"/>
                <a:cs typeface="DejaVu Sans"/>
              </a:rPr>
              <a:t>Cloud Native Infrastructure (Cloud Run / Docker / Prometheus)</a:t>
            </a:r>
            <a:endParaRPr sz="24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332200" y="9486900"/>
            <a:ext cx="1016000" cy="1524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494845"/>
                </a:solidFill>
                <a:latin typeface="DejaVu Sans"/>
                <a:ea typeface="DejaVu Sans"/>
                <a:cs typeface="DejaVu Sans"/>
              </a:rPr>
              <a:t>NotebookLM</a:t>
            </a:r>
            <a:endParaRPr sz="1000" b="1" i="0">
              <a:latin typeface="DejaVu Sans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300" y="876300"/>
            <a:ext cx="11823700" cy="9461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5400" b="1" i="0">
                <a:solidFill>
                  <a:srgbClr val="343129"/>
                </a:solidFill>
                <a:latin typeface="Noto Sans CJK TC"/>
                <a:ea typeface="Noto Sans CJK TC"/>
                <a:cs typeface="Noto Sans CJK TC"/>
              </a:rPr>
              <a:t>平台工程的第一步是讓系統能被營運</a:t>
            </a:r>
            <a:endParaRPr sz="54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2628900"/>
            <a:ext cx="4025900" cy="431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1C1B17"/>
                </a:solidFill>
                <a:latin typeface="DejaVu Sans"/>
                <a:ea typeface="DejaVu Sans"/>
                <a:cs typeface="DejaVu Sans"/>
              </a:rPr>
              <a:t>translation dashboard</a:t>
            </a:r>
            <a:endParaRPr sz="27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11750" y="3600450"/>
            <a:ext cx="3035300" cy="355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282723"/>
                </a:solidFill>
                <a:latin typeface="DejaVu Sans"/>
                <a:ea typeface="DejaVu Sans"/>
                <a:cs typeface="DejaVu Sans"/>
              </a:rPr>
              <a:t>Docker &amp; Cloud Run</a:t>
            </a:r>
            <a:endParaRPr sz="22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45700" y="3600450"/>
            <a:ext cx="5264150" cy="3683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302F2B"/>
                </a:solidFill>
                <a:latin typeface="Noto Sans CJK TC"/>
                <a:ea typeface="Noto Sans CJK TC"/>
                <a:cs typeface="Noto Sans CJK TC"/>
              </a:rPr>
              <a:t>讓服務可以彈性擴展並降低維運負擔</a:t>
            </a:r>
            <a:endParaRPr sz="24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92750" y="4622800"/>
            <a:ext cx="2273300" cy="3683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282824"/>
                </a:solidFill>
                <a:latin typeface="DejaVu Sans"/>
                <a:ea typeface="DejaVu Sans"/>
                <a:cs typeface="DejaVu Sans"/>
              </a:rPr>
              <a:t>Circuit Breaker</a:t>
            </a:r>
            <a:endParaRPr sz="23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45700" y="4622800"/>
            <a:ext cx="4908550" cy="3683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2F2F2B"/>
                </a:solidFill>
                <a:latin typeface="Noto Sans CJK TC"/>
                <a:ea typeface="Noto Sans CJK TC"/>
                <a:cs typeface="Noto Sans CJK TC"/>
              </a:rPr>
              <a:t>避免外部服務異常時拖垮整體平台</a:t>
            </a:r>
            <a:endParaRPr sz="24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2050" y="5657850"/>
            <a:ext cx="4254500" cy="361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302F2B"/>
                </a:solidFill>
                <a:latin typeface="Noto Sans CJK TC"/>
                <a:ea typeface="Noto Sans CJK TC"/>
                <a:cs typeface="Noto Sans CJK TC"/>
              </a:rPr>
              <a:t>建立生產環境的基礎安全防線</a:t>
            </a:r>
            <a:endParaRPr sz="24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19700" y="5664200"/>
            <a:ext cx="2813050" cy="3683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282723"/>
                </a:solidFill>
                <a:latin typeface="DejaVu Sans"/>
                <a:ea typeface="DejaVu Sans"/>
                <a:cs typeface="DejaVu Sans"/>
              </a:rPr>
              <a:t>API Key &amp; Pll Filter</a:t>
            </a:r>
            <a:endParaRPr sz="23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32250" y="6635750"/>
            <a:ext cx="5207000" cy="4381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292824"/>
                </a:solidFill>
                <a:latin typeface="DejaVu Sans"/>
                <a:ea typeface="DejaVu Sans"/>
                <a:cs typeface="DejaVu Sans"/>
              </a:rPr>
              <a:t>Prometheus &amp; Structured Logging</a:t>
            </a:r>
            <a:endParaRPr sz="23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20300" y="6635750"/>
            <a:ext cx="6604000" cy="4064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363631"/>
                </a:solidFill>
                <a:latin typeface="Noto Sans CJK TC"/>
                <a:ea typeface="Noto Sans CJK TC"/>
                <a:cs typeface="Noto Sans CJK TC"/>
              </a:rPr>
              <a:t>讓延遲、錯誤率與流量變成可監控的營運指標</a:t>
            </a:r>
            <a:endParaRPr sz="24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98850" y="8375650"/>
            <a:ext cx="10337800" cy="5651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3000" b="0" i="0">
                <a:solidFill>
                  <a:srgbClr val="252420"/>
                </a:solidFill>
                <a:latin typeface="Noto Sans CJK TC"/>
                <a:ea typeface="Noto Sans CJK TC"/>
                <a:cs typeface="Noto Sans CJK TC"/>
              </a:rPr>
              <a:t>AI 要上線，不能只會回答，必須能被部署、監控與擴展。</a:t>
            </a:r>
            <a:endParaRPr sz="30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129000" y="9493250"/>
            <a:ext cx="1219200" cy="1524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4B4B47"/>
                </a:solidFill>
                <a:latin typeface="DejaVu Sans"/>
                <a:ea typeface="DejaVu Sans"/>
                <a:cs typeface="DejaVu Sans"/>
              </a:rPr>
              <a:t>NotebookLM</a:t>
            </a:r>
            <a:endParaRPr sz="1200" b="1" i="0">
              <a:latin typeface="DejaVu Sans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8050" y="603250"/>
            <a:ext cx="4787900" cy="8191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5000" b="1" i="0">
                <a:solidFill>
                  <a:srgbClr val="302F2B"/>
                </a:solidFill>
                <a:latin typeface="Noto Sans CJK TC"/>
                <a:ea typeface="Noto Sans CJK TC"/>
                <a:cs typeface="Noto Sans CJK TC"/>
              </a:rPr>
              <a:t>讓企業工具變成</a:t>
            </a:r>
            <a:endParaRPr sz="50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810500" y="628650"/>
            <a:ext cx="3968750" cy="7493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800" b="1" i="0">
                <a:solidFill>
                  <a:srgbClr val="302E29"/>
                </a:solidFill>
                <a:latin typeface="Noto Sans CJK TC"/>
                <a:ea typeface="Noto Sans CJK TC"/>
                <a:cs typeface="Noto Sans CJK TC"/>
              </a:rPr>
              <a:t>可治理的能力</a:t>
            </a:r>
            <a:endParaRPr sz="48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62600" y="685800"/>
            <a:ext cx="2178050" cy="7493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800" b="1" i="0">
                <a:solidFill>
                  <a:srgbClr val="2F2D28"/>
                </a:solidFill>
                <a:latin typeface="DejaVu Sans"/>
                <a:ea typeface="DejaVu Sans"/>
                <a:cs typeface="DejaVu Sans"/>
              </a:rPr>
              <a:t>Agent</a:t>
            </a:r>
            <a:endParaRPr sz="4800" b="1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649200" y="1841500"/>
            <a:ext cx="596900" cy="2730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800" b="0" i="0">
                <a:solidFill>
                  <a:srgbClr val="3C3C36"/>
                </a:solidFill>
                <a:latin typeface="DejaVu Sans"/>
                <a:ea typeface="DejaVu Sans"/>
                <a:cs typeface="DejaVu Sans"/>
              </a:rPr>
              <a:t>After</a:t>
            </a:r>
            <a:endParaRPr sz="18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94150" y="1873250"/>
            <a:ext cx="1428750" cy="2413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44433E"/>
                </a:solidFill>
                <a:latin typeface="DejaVu Sans"/>
                <a:ea typeface="DejaVu Sans"/>
                <a:cs typeface="DejaVu Sans"/>
              </a:rPr>
              <a:t>API Spaghetti</a:t>
            </a:r>
            <a:endParaRPr sz="16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836650" y="2324100"/>
            <a:ext cx="742950" cy="3238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900" b="0" i="0">
                <a:solidFill>
                  <a:srgbClr val="42403A"/>
                </a:solidFill>
                <a:latin typeface="DejaVu Sans"/>
                <a:ea typeface="DejaVu Sans"/>
                <a:cs typeface="DejaVu Sans"/>
              </a:rPr>
              <a:t>Agent</a:t>
            </a:r>
            <a:endParaRPr sz="19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592050" y="2330450"/>
            <a:ext cx="730250" cy="304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800" b="0" i="0">
                <a:solidFill>
                  <a:srgbClr val="403E3A"/>
                </a:solidFill>
                <a:latin typeface="DejaVu Sans"/>
                <a:ea typeface="DejaVu Sans"/>
                <a:cs typeface="DejaVu Sans"/>
              </a:rPr>
              <a:t>Agent</a:t>
            </a:r>
            <a:endParaRPr sz="18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98800" y="2336800"/>
            <a:ext cx="723900" cy="2984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800" b="0" i="0">
                <a:solidFill>
                  <a:srgbClr val="413F3B"/>
                </a:solidFill>
                <a:latin typeface="DejaVu Sans"/>
                <a:ea typeface="DejaVu Sans"/>
                <a:cs typeface="DejaVu Sans"/>
              </a:rPr>
              <a:t>Agent</a:t>
            </a:r>
            <a:endParaRPr sz="18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49750" y="2336800"/>
            <a:ext cx="723900" cy="2984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800" b="0" i="0">
                <a:solidFill>
                  <a:srgbClr val="454440"/>
                </a:solidFill>
                <a:latin typeface="DejaVu Sans"/>
                <a:ea typeface="DejaVu Sans"/>
                <a:cs typeface="DejaVu Sans"/>
              </a:rPr>
              <a:t>Agent</a:t>
            </a:r>
            <a:endParaRPr sz="18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13400" y="2343150"/>
            <a:ext cx="717550" cy="2794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800" b="0" i="0">
                <a:solidFill>
                  <a:srgbClr val="45433F"/>
                </a:solidFill>
                <a:latin typeface="DejaVu Sans"/>
                <a:ea typeface="DejaVu Sans"/>
                <a:cs typeface="DejaVu Sans"/>
              </a:rPr>
              <a:t>Agent</a:t>
            </a:r>
            <a:endParaRPr sz="18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347450" y="2349500"/>
            <a:ext cx="711200" cy="2730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800" b="0" i="0">
                <a:solidFill>
                  <a:srgbClr val="413E39"/>
                </a:solidFill>
                <a:latin typeface="DejaVu Sans"/>
                <a:ea typeface="DejaVu Sans"/>
                <a:cs typeface="DejaVu Sans"/>
              </a:rPr>
              <a:t>Agent</a:t>
            </a:r>
            <a:endParaRPr sz="18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400" y="2844800"/>
            <a:ext cx="876300" cy="2984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383631"/>
                </a:solidFill>
                <a:latin typeface="DejaVu Sans"/>
                <a:ea typeface="DejaVu Sans"/>
                <a:cs typeface="DejaVu Sans"/>
              </a:rPr>
              <a:t>Before</a:t>
            </a:r>
            <a:endParaRPr sz="20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912350" y="2844800"/>
            <a:ext cx="704850" cy="3111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32322E"/>
                </a:solidFill>
                <a:latin typeface="DejaVu Sans"/>
                <a:ea typeface="DejaVu Sans"/>
                <a:cs typeface="DejaVu Sans"/>
              </a:rPr>
              <a:t>After</a:t>
            </a:r>
            <a:endParaRPr sz="21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655550" y="4572000"/>
            <a:ext cx="590550" cy="2603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E9C0B0"/>
                </a:solidFill>
                <a:latin typeface="DejaVu Sans"/>
                <a:ea typeface="DejaVu Sans"/>
                <a:cs typeface="DejaVu Sans"/>
              </a:rPr>
              <a:t>MCP</a:t>
            </a:r>
            <a:endParaRPr sz="20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687300" y="4864100"/>
            <a:ext cx="527050" cy="266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900" b="0" i="0">
                <a:solidFill>
                  <a:srgbClr val="E8BCAC"/>
                </a:solidFill>
                <a:latin typeface="DejaVu Sans"/>
                <a:ea typeface="DejaVu Sans"/>
                <a:cs typeface="DejaVu Sans"/>
              </a:rPr>
              <a:t>Hub</a:t>
            </a:r>
            <a:endParaRPr sz="19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97350" y="7162800"/>
            <a:ext cx="1022350" cy="304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800" b="0" i="0">
                <a:solidFill>
                  <a:srgbClr val="3F3D38"/>
                </a:solidFill>
                <a:latin typeface="DejaVu Sans"/>
                <a:ea typeface="DejaVu Sans"/>
                <a:cs typeface="DejaVu Sans"/>
              </a:rPr>
              <a:t>Systems</a:t>
            </a:r>
            <a:endParaRPr sz="18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839450" y="7175500"/>
            <a:ext cx="717550" cy="2540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3E3C37"/>
                </a:solidFill>
                <a:latin typeface="Noto Sans CJK TC"/>
                <a:ea typeface="Noto Sans CJK TC"/>
                <a:cs typeface="Noto Sans CJK TC"/>
              </a:rPr>
              <a:t>M365</a:t>
            </a:r>
            <a:endParaRPr sz="20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198350" y="7181850"/>
            <a:ext cx="1504950" cy="2413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3C3A36"/>
                </a:solidFill>
                <a:latin typeface="DejaVu Sans"/>
                <a:ea typeface="DejaVu Sans"/>
                <a:cs typeface="DejaVu Sans"/>
              </a:rPr>
              <a:t>InternalTools</a:t>
            </a:r>
            <a:endParaRPr sz="17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090650" y="7188200"/>
            <a:ext cx="1219200" cy="2413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3C3A36"/>
                </a:solidFill>
                <a:latin typeface="DejaVu Sans"/>
                <a:ea typeface="DejaVu Sans"/>
                <a:cs typeface="DejaVu Sans"/>
              </a:rPr>
              <a:t>Databases</a:t>
            </a:r>
            <a:endParaRPr sz="17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84300" y="8007350"/>
            <a:ext cx="6477000" cy="2540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504C45"/>
                </a:solidFill>
                <a:latin typeface="Noto Sans CJK TC"/>
                <a:ea typeface="Noto Sans CJK TC"/>
                <a:cs typeface="Noto Sans CJK TC"/>
              </a:rPr>
              <a:t>傳統整合：每接一個系統就多一組客製API，成本隨場景線性上升。</a:t>
            </a:r>
            <a:endParaRPr sz="16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98000" y="8007350"/>
            <a:ext cx="6959600" cy="2794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4A463E"/>
                </a:solidFill>
                <a:latin typeface="Noto Sans CJK TC"/>
                <a:ea typeface="Noto Sans CJK TC"/>
                <a:cs typeface="Noto Sans CJK TC"/>
              </a:rPr>
              <a:t>MCP整合：把内部系統包裝成標準化工具介面，Agent 以一致方式調用</a:t>
            </a:r>
            <a:endParaRPr sz="16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41450" y="9080500"/>
            <a:ext cx="14484350" cy="4254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700" b="1" i="0">
                <a:solidFill>
                  <a:srgbClr val="24221C"/>
                </a:solidFill>
                <a:latin typeface="Noto Sans CJK TC"/>
                <a:ea typeface="Noto Sans CJK TC"/>
                <a:cs typeface="Noto Sans CJK TC"/>
              </a:rPr>
              <a:t>MCP 不是炫技，而是讓AI可以安全、標準化地使用企業工具，並保留完整的 ToolTrace。</a:t>
            </a:r>
            <a:endParaRPr sz="27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116300" y="9486900"/>
            <a:ext cx="1225550" cy="1524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4B4A48"/>
                </a:solidFill>
                <a:latin typeface="DejaVu Sans"/>
                <a:ea typeface="DejaVu Sans"/>
                <a:cs typeface="DejaVu Sans"/>
              </a:rPr>
              <a:t>ANotebookLM</a:t>
            </a:r>
            <a:endParaRPr sz="1100" b="1" i="0">
              <a:latin typeface="DejaVu Sans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5350" y="596900"/>
            <a:ext cx="6718300" cy="8255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900" b="1" i="0">
                <a:solidFill>
                  <a:srgbClr val="322F25"/>
                </a:solidFill>
                <a:latin typeface="Noto Sans CJK TC"/>
                <a:ea typeface="Noto Sans CJK TC"/>
                <a:cs typeface="Noto Sans CJK TC"/>
              </a:rPr>
              <a:t>乾淨且精準的資料決定</a:t>
            </a:r>
            <a:endParaRPr sz="49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94800" y="622300"/>
            <a:ext cx="3371850" cy="8001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900" b="1" i="0">
                <a:solidFill>
                  <a:srgbClr val="312E25"/>
                </a:solidFill>
                <a:latin typeface="Noto Sans CJK TC"/>
                <a:ea typeface="Noto Sans CJK TC"/>
                <a:cs typeface="Noto Sans CJK TC"/>
              </a:rPr>
              <a:t>準確度上限</a:t>
            </a:r>
            <a:endParaRPr sz="49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88250" y="679450"/>
            <a:ext cx="1536700" cy="6794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900" b="1" i="0">
                <a:solidFill>
                  <a:srgbClr val="302E25"/>
                </a:solidFill>
                <a:latin typeface="DejaVu Sans"/>
                <a:ea typeface="DejaVu Sans"/>
                <a:cs typeface="DejaVu Sans"/>
              </a:rPr>
              <a:t>RAG</a:t>
            </a:r>
            <a:endParaRPr sz="4900" b="1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963400" y="2038350"/>
            <a:ext cx="1981200" cy="3683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302F2A"/>
                </a:solidFill>
                <a:latin typeface="DejaVu Sans"/>
                <a:ea typeface="DejaVu Sans"/>
                <a:cs typeface="DejaVu Sans"/>
              </a:rPr>
              <a:t>Hybrid Search</a:t>
            </a:r>
            <a:endParaRPr sz="21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09950" y="3644900"/>
            <a:ext cx="2743200" cy="2984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900" b="0" i="0">
                <a:solidFill>
                  <a:srgbClr val="3F3E37"/>
                </a:solidFill>
                <a:latin typeface="Noto Sans CJK TC"/>
                <a:ea typeface="Noto Sans CJK TC"/>
                <a:cs typeface="Noto Sans CJK TC"/>
              </a:rPr>
              <a:t>PyMuPDF(高文本密度)/</a:t>
            </a:r>
            <a:endParaRPr sz="19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17200" y="3797300"/>
            <a:ext cx="1676400" cy="3810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282622"/>
                </a:solidFill>
                <a:latin typeface="DejaVu Sans"/>
                <a:ea typeface="DejaVu Sans"/>
                <a:cs typeface="DejaVu Sans"/>
              </a:rPr>
              <a:t>Embedding</a:t>
            </a:r>
            <a:endParaRPr sz="22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944600" y="3797300"/>
            <a:ext cx="927100" cy="342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272521"/>
                </a:solidFill>
                <a:latin typeface="Noto Sans CJK TC"/>
                <a:ea typeface="Noto Sans CJK TC"/>
                <a:cs typeface="Noto Sans CJK TC"/>
              </a:rPr>
              <a:t>BM25</a:t>
            </a:r>
            <a:endParaRPr sz="26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13100" y="3956050"/>
            <a:ext cx="3117850" cy="2984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800" b="0" i="0">
                <a:solidFill>
                  <a:srgbClr val="45433C"/>
                </a:solidFill>
                <a:latin typeface="Noto Sans CJK TC"/>
                <a:ea typeface="Noto Sans CJK TC"/>
                <a:cs typeface="Noto Sans CJK TC"/>
              </a:rPr>
              <a:t>Vision API (掃描與複雜版面)</a:t>
            </a:r>
            <a:endParaRPr sz="18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53150" y="5873750"/>
            <a:ext cx="2241550" cy="3302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3A3831"/>
                </a:solidFill>
                <a:latin typeface="DejaVu Sans"/>
                <a:ea typeface="DejaVu Sans"/>
                <a:cs typeface="DejaVu Sans"/>
              </a:rPr>
              <a:t>Semantic Chunking</a:t>
            </a:r>
            <a:endParaRPr sz="17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099550" y="6032500"/>
            <a:ext cx="1892300" cy="3175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4B4942"/>
                </a:solidFill>
                <a:latin typeface="Noto Sans CJK TC"/>
                <a:ea typeface="Noto Sans CJK TC"/>
                <a:cs typeface="Noto Sans CJK TC"/>
              </a:rPr>
              <a:t>擅長找語意相似、</a:t>
            </a:r>
            <a:endParaRPr sz="17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738350" y="6038850"/>
            <a:ext cx="2139950" cy="304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4D4B43"/>
                </a:solidFill>
                <a:latin typeface="Noto Sans CJK TC"/>
                <a:ea typeface="Noto Sans CJK TC"/>
                <a:cs typeface="Noto Sans CJK TC"/>
              </a:rPr>
              <a:t>擅長找精準關鍵字、</a:t>
            </a:r>
            <a:endParaRPr sz="17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598400" y="6115050"/>
            <a:ext cx="641350" cy="336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1E1C18"/>
                </a:solidFill>
                <a:latin typeface="DejaVu Sans"/>
                <a:ea typeface="DejaVu Sans"/>
                <a:cs typeface="DejaVu Sans"/>
              </a:rPr>
              <a:t>RRF</a:t>
            </a:r>
            <a:endParaRPr sz="24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92900" y="6184900"/>
            <a:ext cx="1187450" cy="336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4B4A42"/>
                </a:solidFill>
                <a:latin typeface="Noto Sans CJK TC"/>
                <a:ea typeface="Noto Sans CJK TC"/>
                <a:cs typeface="Noto Sans CJK TC"/>
              </a:rPr>
              <a:t>(保留語意)</a:t>
            </a:r>
            <a:endParaRPr sz="17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232900" y="6356350"/>
            <a:ext cx="1720850" cy="304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800" b="0" i="0">
                <a:solidFill>
                  <a:srgbClr val="44423B"/>
                </a:solidFill>
                <a:latin typeface="Noto Sans CJK TC"/>
                <a:ea typeface="Noto Sans CJK TC"/>
                <a:cs typeface="Noto Sans CJK TC"/>
              </a:rPr>
              <a:t>同義改寫，補足</a:t>
            </a:r>
            <a:endParaRPr sz="18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751050" y="6356350"/>
            <a:ext cx="2381250" cy="2984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44423D"/>
                </a:solidFill>
                <a:latin typeface="Noto Sans CJK TC"/>
                <a:ea typeface="Noto Sans CJK TC"/>
                <a:cs typeface="Noto Sans CJK TC"/>
              </a:rPr>
              <a:t>系統名稱、流程代碼。</a:t>
            </a:r>
            <a:endParaRPr sz="17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251950" y="6667500"/>
            <a:ext cx="1631950" cy="304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43423C"/>
                </a:solidFill>
                <a:latin typeface="Noto Sans CJK TC"/>
                <a:ea typeface="Noto Sans CJK TC"/>
                <a:cs typeface="Noto Sans CJK TC"/>
              </a:rPr>
              <a:t>自然語言問法。</a:t>
            </a:r>
            <a:endParaRPr sz="17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052300" y="7772400"/>
            <a:ext cx="1638300" cy="2857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403E38"/>
                </a:solidFill>
                <a:latin typeface="Noto Sans CJK TC"/>
                <a:ea typeface="Noto Sans CJK TC"/>
                <a:cs typeface="Noto Sans CJK TC"/>
              </a:rPr>
              <a:t>結果融合排序，</a:t>
            </a:r>
            <a:endParaRPr sz="17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753850" y="8077200"/>
            <a:ext cx="2381250" cy="2921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48453D"/>
                </a:solidFill>
                <a:latin typeface="Noto Sans CJK TC"/>
                <a:ea typeface="Noto Sans CJK TC"/>
                <a:cs typeface="Noto Sans CJK TC"/>
              </a:rPr>
              <a:t>提升召回率舆穩定性。</a:t>
            </a:r>
            <a:endParaRPr sz="17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57450" y="8991600"/>
            <a:ext cx="7962900" cy="596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3400" b="1" i="0">
                <a:solidFill>
                  <a:srgbClr val="2A261C"/>
                </a:solidFill>
                <a:latin typeface="Noto Sans CJK TC"/>
                <a:ea typeface="Noto Sans CJK TC"/>
                <a:cs typeface="Noto Sans CJK TC"/>
              </a:rPr>
              <a:t>金融級 RAG 的第一步不是生成，而是讓</a:t>
            </a:r>
            <a:endParaRPr sz="34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703050" y="9029700"/>
            <a:ext cx="3143250" cy="5397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3300" b="1" i="0">
                <a:solidFill>
                  <a:srgbClr val="2A261D"/>
                </a:solidFill>
                <a:latin typeface="Noto Sans CJK TC"/>
                <a:ea typeface="Noto Sans CJK TC"/>
                <a:cs typeface="Noto Sans CJK TC"/>
              </a:rPr>
              <a:t>拿到可用證據。</a:t>
            </a:r>
            <a:endParaRPr sz="33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363200" y="9093200"/>
            <a:ext cx="1460500" cy="488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3200" b="1" i="0">
                <a:solidFill>
                  <a:srgbClr val="28251A"/>
                </a:solidFill>
                <a:latin typeface="DejaVu Sans"/>
                <a:ea typeface="DejaVu Sans"/>
                <a:cs typeface="DejaVu Sans"/>
              </a:rPr>
              <a:t>Agent</a:t>
            </a:r>
            <a:endParaRPr sz="3200" b="1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332200" y="9480550"/>
            <a:ext cx="1003300" cy="1524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484845"/>
                </a:solidFill>
                <a:latin typeface="DejaVu Sans"/>
                <a:ea typeface="DejaVu Sans"/>
                <a:cs typeface="DejaVu Sans"/>
              </a:rPr>
              <a:t>NotebookLM</a:t>
            </a:r>
            <a:endParaRPr sz="1000" b="1" i="0">
              <a:latin typeface="DejaVu Sans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312400" y="482600"/>
            <a:ext cx="2400300" cy="3238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464642"/>
                </a:solidFill>
                <a:latin typeface="Noto Sans CJK TC"/>
                <a:ea typeface="Noto Sans CJK TC"/>
                <a:cs typeface="Noto Sans CJK TC"/>
              </a:rPr>
              <a:t>傳統 RAG: 單向流程</a:t>
            </a:r>
            <a:endParaRPr sz="20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3600" y="546100"/>
            <a:ext cx="74549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3400" b="1" i="0">
                <a:solidFill>
                  <a:srgbClr val="20211C"/>
                </a:solidFill>
                <a:latin typeface="Noto Sans CJK TC"/>
                <a:ea typeface="Noto Sans CJK TC"/>
                <a:cs typeface="Noto Sans CJK TC"/>
              </a:rPr>
              <a:t>從單向檢索走向可自我校正的工作流</a:t>
            </a:r>
            <a:endParaRPr sz="34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595350" y="666750"/>
            <a:ext cx="3073400" cy="3175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900" b="0" i="0">
                <a:solidFill>
                  <a:srgbClr val="4B4B46"/>
                </a:solidFill>
                <a:latin typeface="Noto Sans CJK TC"/>
                <a:ea typeface="Noto Sans CJK TC"/>
                <a:cs typeface="Noto Sans CJK TC"/>
              </a:rPr>
              <a:t>AgenticRAG： 動態狀態機</a:t>
            </a:r>
            <a:endParaRPr sz="19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40950" y="863600"/>
            <a:ext cx="2749550" cy="2984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800" b="0" i="0">
                <a:solidFill>
                  <a:srgbClr val="3A3A36"/>
                </a:solidFill>
                <a:latin typeface="DejaVu Sans"/>
                <a:ea typeface="DejaVu Sans"/>
                <a:cs typeface="DejaVu Sans"/>
              </a:rPr>
              <a:t>(Retrieve → Generate)</a:t>
            </a:r>
            <a:endParaRPr sz="18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0" y="3098800"/>
            <a:ext cx="2216150" cy="361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353531"/>
                </a:solidFill>
                <a:latin typeface="DejaVu Sans"/>
                <a:ea typeface="DejaVu Sans"/>
                <a:cs typeface="DejaVu Sans"/>
              </a:rPr>
              <a:t>rewrite_query</a:t>
            </a:r>
            <a:endParaRPr sz="24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69150" y="3937000"/>
            <a:ext cx="3130550" cy="304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454540"/>
                </a:solidFill>
                <a:latin typeface="Noto Sans CJK TC"/>
                <a:ea typeface="Noto Sans CJK TC"/>
                <a:cs typeface="Noto Sans CJK TC"/>
              </a:rPr>
              <a:t>（證據不足時換個問法再查）</a:t>
            </a:r>
            <a:endParaRPr sz="17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66850" y="5340350"/>
            <a:ext cx="1562100" cy="3873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53530"/>
                </a:solidFill>
                <a:latin typeface="DejaVu Sans"/>
                <a:ea typeface="DejaVu Sans"/>
                <a:cs typeface="DejaVu Sans"/>
              </a:rPr>
              <a:t>Generate</a:t>
            </a:r>
            <a:endParaRPr sz="25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79550" y="5353050"/>
            <a:ext cx="2095500" cy="393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33332E"/>
                </a:solidFill>
                <a:latin typeface="DejaVu Sans"/>
                <a:ea typeface="DejaVu Sans"/>
                <a:cs typeface="DejaVu Sans"/>
              </a:rPr>
              <a:t>QueryRouter</a:t>
            </a:r>
            <a:endParaRPr sz="24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67350" y="5372100"/>
            <a:ext cx="2387600" cy="355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32332E"/>
                </a:solidFill>
                <a:latin typeface="DejaVu Sans"/>
                <a:ea typeface="DejaVu Sans"/>
                <a:cs typeface="DejaVu Sans"/>
              </a:rPr>
              <a:t>RetrievalAgent</a:t>
            </a:r>
            <a:endParaRPr sz="24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74200" y="5378450"/>
            <a:ext cx="2660650" cy="3302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32332E"/>
                </a:solidFill>
                <a:latin typeface="DejaVu Sans"/>
                <a:ea typeface="DejaVu Sans"/>
                <a:cs typeface="DejaVu Sans"/>
              </a:rPr>
              <a:t>validate_context</a:t>
            </a:r>
            <a:endParaRPr sz="24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6850" y="6197600"/>
            <a:ext cx="2108200" cy="3492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800" b="0" i="0">
                <a:solidFill>
                  <a:srgbClr val="51514D"/>
                </a:solidFill>
                <a:latin typeface="Noto Sans CJK TC"/>
                <a:ea typeface="Noto Sans CJK TC"/>
                <a:cs typeface="Noto Sans CJK TC"/>
              </a:rPr>
              <a:t>(判斷去哪找資料)</a:t>
            </a:r>
            <a:endParaRPr sz="18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19800" y="6210300"/>
            <a:ext cx="1289050" cy="336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4B4C47"/>
                </a:solidFill>
                <a:latin typeface="Noto Sans CJK TC"/>
                <a:ea typeface="Noto Sans CJK TC"/>
                <a:cs typeface="Noto Sans CJK TC"/>
              </a:rPr>
              <a:t>(混合檢索)</a:t>
            </a:r>
            <a:endParaRPr sz="17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45650" y="6216650"/>
            <a:ext cx="2330450" cy="3238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4B4B47"/>
                </a:solidFill>
                <a:latin typeface="Noto Sans CJK TC"/>
                <a:ea typeface="Noto Sans CJK TC"/>
                <a:cs typeface="Noto Sans CJK TC"/>
              </a:rPr>
              <a:t>(檢查證據是否足夠)</a:t>
            </a:r>
            <a:endParaRPr sz="16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00500" y="7912100"/>
            <a:ext cx="9277350" cy="7048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000" b="1" i="0">
                <a:solidFill>
                  <a:srgbClr val="191B17"/>
                </a:solidFill>
                <a:latin typeface="Noto Sans CJK TC"/>
                <a:ea typeface="Noto Sans CJK TC"/>
                <a:cs typeface="Noto Sans CJK TC"/>
              </a:rPr>
              <a:t>模型找到資料，不代表資料足以回答。</a:t>
            </a:r>
            <a:endParaRPr sz="40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122650" y="9493250"/>
            <a:ext cx="1219200" cy="1524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4B4A48"/>
                </a:solidFill>
                <a:latin typeface="DejaVu Sans"/>
                <a:ea typeface="DejaVu Sans"/>
                <a:cs typeface="DejaVu Sans"/>
              </a:rPr>
              <a:t>NotebookLM</a:t>
            </a:r>
            <a:endParaRPr sz="1200" b="1" i="0">
              <a:latin typeface="DejaVu Sans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550" y="654050"/>
            <a:ext cx="10115550" cy="7048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400" b="1" i="0">
                <a:solidFill>
                  <a:srgbClr val="2A2B29"/>
                </a:solidFill>
                <a:latin typeface="Noto Sans CJK TC"/>
                <a:ea typeface="Noto Sans CJK TC"/>
                <a:cs typeface="Noto Sans CJK TC"/>
              </a:rPr>
              <a:t>金融級準確度建立在安全的信任邊界上</a:t>
            </a:r>
            <a:endParaRPr sz="44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0" y="2012950"/>
            <a:ext cx="1009650" cy="2730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43423E"/>
                </a:solidFill>
                <a:latin typeface="DejaVu Sans"/>
                <a:ea typeface="DejaVu Sans"/>
                <a:cs typeface="DejaVu Sans"/>
              </a:rPr>
              <a:t>Question</a:t>
            </a:r>
            <a:endParaRPr sz="17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2150" y="3016250"/>
            <a:ext cx="463550" cy="304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494842"/>
                </a:solidFill>
                <a:latin typeface="DejaVu Sans"/>
                <a:ea typeface="DejaVu Sans"/>
                <a:cs typeface="DejaVu Sans"/>
              </a:rPr>
              <a:t>Yes</a:t>
            </a:r>
            <a:endParaRPr sz="21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3150" y="3022600"/>
            <a:ext cx="387350" cy="2921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42403D"/>
                </a:solidFill>
                <a:latin typeface="DejaVu Sans"/>
                <a:ea typeface="DejaVu Sans"/>
                <a:cs typeface="DejaVu Sans"/>
              </a:rPr>
              <a:t>No</a:t>
            </a:r>
            <a:endParaRPr sz="21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35950" y="3117850"/>
            <a:ext cx="996950" cy="2540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44423D"/>
                </a:solidFill>
                <a:latin typeface="DejaVu Sans"/>
                <a:ea typeface="DejaVu Sans"/>
                <a:cs typeface="DejaVu Sans"/>
              </a:rPr>
              <a:t>Evidence</a:t>
            </a:r>
            <a:endParaRPr sz="16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55000" y="3409950"/>
            <a:ext cx="958850" cy="2603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44433C"/>
                </a:solidFill>
                <a:latin typeface="DejaVu Sans"/>
                <a:ea typeface="DejaVu Sans"/>
                <a:cs typeface="DejaVu Sans"/>
              </a:rPr>
              <a:t>enough?</a:t>
            </a:r>
            <a:endParaRPr sz="16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10850" y="4006850"/>
            <a:ext cx="1543050" cy="2540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42403B"/>
                </a:solidFill>
                <a:latin typeface="DejaVu Sans"/>
                <a:ea typeface="DejaVu Sans"/>
                <a:cs typeface="DejaVu Sans"/>
              </a:rPr>
              <a:t>Rewrite Query</a:t>
            </a:r>
            <a:endParaRPr sz="16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67350" y="4013200"/>
            <a:ext cx="838200" cy="234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413F3A"/>
                </a:solidFill>
                <a:latin typeface="DejaVu Sans"/>
                <a:ea typeface="DejaVu Sans"/>
                <a:cs typeface="DejaVu Sans"/>
              </a:rPr>
              <a:t>Answer</a:t>
            </a:r>
            <a:endParaRPr sz="17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541250" y="5010150"/>
            <a:ext cx="1701800" cy="3111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44423D"/>
                </a:solidFill>
                <a:latin typeface="DejaVu Sans"/>
                <a:ea typeface="DejaVu Sans"/>
                <a:cs typeface="DejaVu Sans"/>
              </a:rPr>
              <a:t>High Risk Task?</a:t>
            </a:r>
            <a:endParaRPr sz="16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791700" y="5029200"/>
            <a:ext cx="41275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800" b="0" i="0">
                <a:solidFill>
                  <a:srgbClr val="464540"/>
                </a:solidFill>
                <a:latin typeface="DejaVu Sans"/>
                <a:ea typeface="DejaVu Sans"/>
                <a:cs typeface="DejaVu Sans"/>
              </a:rPr>
              <a:t>Yes</a:t>
            </a:r>
            <a:endParaRPr sz="18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50600" y="5086350"/>
            <a:ext cx="469900" cy="266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900" b="0" i="0">
                <a:solidFill>
                  <a:srgbClr val="4C4B48"/>
                </a:solidFill>
                <a:latin typeface="DejaVu Sans"/>
                <a:ea typeface="DejaVu Sans"/>
                <a:cs typeface="DejaVu Sans"/>
              </a:rPr>
              <a:t>Still</a:t>
            </a:r>
            <a:endParaRPr sz="19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718800" y="5403850"/>
            <a:ext cx="1333500" cy="215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45443E"/>
                </a:solidFill>
                <a:latin typeface="DejaVu Sans"/>
                <a:ea typeface="DejaVu Sans"/>
                <a:cs typeface="DejaVu Sans"/>
              </a:rPr>
              <a:t>insufficient?</a:t>
            </a:r>
            <a:endParaRPr sz="16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99400" y="5956300"/>
            <a:ext cx="1676400" cy="469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3100" b="1" i="0">
                <a:solidFill>
                  <a:srgbClr val="240100"/>
                </a:solidFill>
                <a:latin typeface="Noto Sans CJK TC"/>
                <a:ea typeface="Noto Sans CJK TC"/>
                <a:cs typeface="Noto Sans CJK TC"/>
              </a:rPr>
              <a:t>明確拒答</a:t>
            </a:r>
            <a:endParaRPr sz="31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611100" y="6356350"/>
            <a:ext cx="2082800" cy="234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3F3D38"/>
                </a:solidFill>
                <a:latin typeface="DejaVu Sans"/>
                <a:ea typeface="DejaVu Sans"/>
                <a:cs typeface="DejaVu Sans"/>
              </a:rPr>
              <a:t>Human-in-the-loop</a:t>
            </a:r>
            <a:endParaRPr sz="16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75600" y="6489700"/>
            <a:ext cx="1543050" cy="4064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700" b="1" i="0">
                <a:solidFill>
                  <a:srgbClr val="220000"/>
                </a:solidFill>
                <a:latin typeface="DejaVu Sans"/>
                <a:ea typeface="DejaVu Sans"/>
                <a:cs typeface="DejaVu Sans"/>
              </a:rPr>
              <a:t>Refusal</a:t>
            </a:r>
            <a:endParaRPr sz="2700" b="1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03600" y="7689850"/>
            <a:ext cx="10521950" cy="5715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3100" b="1" i="0">
                <a:solidFill>
                  <a:srgbClr val="272623"/>
                </a:solidFill>
                <a:latin typeface="Noto Sans CJK TC"/>
                <a:ea typeface="Noto Sans CJK TC"/>
                <a:cs typeface="Noto Sans CJK TC"/>
              </a:rPr>
              <a:t>AgenticAI的價值不是完全自主，而是在可控邊界內自主。</a:t>
            </a:r>
            <a:endParaRPr sz="31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35550" y="8261350"/>
            <a:ext cx="7251700" cy="4953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3100" b="1" i="0">
                <a:solidFill>
                  <a:srgbClr val="282723"/>
                </a:solidFill>
                <a:latin typeface="Noto Sans CJK TC"/>
                <a:ea typeface="Noto Sans CJK TC"/>
                <a:cs typeface="Noto Sans CJK TC"/>
              </a:rPr>
              <a:t>每一個判斷皆有Agent Trace稽核軌跡。</a:t>
            </a:r>
            <a:endParaRPr sz="31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338550" y="9474200"/>
            <a:ext cx="1009650" cy="1714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4A4945"/>
                </a:solidFill>
                <a:latin typeface="DejaVu Sans"/>
                <a:ea typeface="DejaVu Sans"/>
                <a:cs typeface="DejaVu Sans"/>
              </a:rPr>
              <a:t>NotebookLM</a:t>
            </a:r>
            <a:endParaRPr sz="1000" b="1" i="0">
              <a:latin typeface="DejaVu Sans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12650" y="781050"/>
            <a:ext cx="3721100" cy="996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800" b="0" i="0">
                <a:solidFill>
                  <a:srgbClr val="1F1F1C"/>
                </a:solidFill>
                <a:latin typeface="DejaVu Sans"/>
                <a:ea typeface="DejaVu Sans"/>
                <a:cs typeface="DejaVu Sans"/>
              </a:rPr>
              <a:t>feature.</a:t>
            </a:r>
            <a:endParaRPr sz="71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7950" y="800100"/>
            <a:ext cx="4286250" cy="11684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800" b="0" i="0">
                <a:solidFill>
                  <a:srgbClr val="1E1F1B"/>
                </a:solidFill>
                <a:latin typeface="DejaVu Sans"/>
                <a:ea typeface="DejaVu Sans"/>
                <a:cs typeface="DejaVu Sans"/>
              </a:rPr>
              <a:t>Accuracy</a:t>
            </a:r>
            <a:endParaRPr sz="71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023350" y="806450"/>
            <a:ext cx="3181350" cy="939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800" b="0" i="0">
                <a:solidFill>
                  <a:srgbClr val="1F201C"/>
                </a:solidFill>
                <a:latin typeface="DejaVu Sans"/>
                <a:ea typeface="DejaVu Sans"/>
                <a:cs typeface="DejaVu Sans"/>
              </a:rPr>
              <a:t>model</a:t>
            </a:r>
            <a:endParaRPr sz="77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59450" y="863600"/>
            <a:ext cx="825500" cy="850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800" b="0" i="0">
                <a:solidFill>
                  <a:srgbClr val="1F1F1C"/>
                </a:solidFill>
                <a:latin typeface="DejaVu Sans"/>
                <a:ea typeface="DejaVu Sans"/>
                <a:cs typeface="DejaVu Sans"/>
              </a:rPr>
              <a:t>is</a:t>
            </a:r>
            <a:endParaRPr sz="72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31000" y="901700"/>
            <a:ext cx="1612900" cy="8255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800" b="0" i="0">
                <a:solidFill>
                  <a:srgbClr val="1E1E1B"/>
                </a:solidFill>
                <a:latin typeface="DejaVu Sans"/>
                <a:ea typeface="DejaVu Sans"/>
                <a:cs typeface="DejaVu Sans"/>
              </a:rPr>
              <a:t>not</a:t>
            </a:r>
            <a:endParaRPr sz="69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15350" y="1041400"/>
            <a:ext cx="571500" cy="6223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800" b="0" i="0">
                <a:solidFill>
                  <a:srgbClr val="1C1D19"/>
                </a:solidFill>
                <a:latin typeface="DejaVu Sans"/>
                <a:ea typeface="DejaVu Sans"/>
                <a:cs typeface="DejaVu Sans"/>
              </a:rPr>
              <a:t>a</a:t>
            </a:r>
            <a:endParaRPr sz="52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65450" y="1847850"/>
            <a:ext cx="1790700" cy="977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800" b="0" i="0">
                <a:solidFill>
                  <a:srgbClr val="1D1E1A"/>
                </a:solidFill>
                <a:latin typeface="DejaVu Sans"/>
                <a:ea typeface="DejaVu Sans"/>
                <a:cs typeface="DejaVu Sans"/>
              </a:rPr>
              <a:t>It is</a:t>
            </a:r>
            <a:endParaRPr sz="75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00700" y="1917700"/>
            <a:ext cx="4375150" cy="882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800" b="0" i="0">
                <a:solidFill>
                  <a:srgbClr val="1E1E1B"/>
                </a:solidFill>
                <a:latin typeface="DejaVu Sans"/>
                <a:ea typeface="DejaVu Sans"/>
                <a:cs typeface="DejaVu Sans"/>
              </a:rPr>
              <a:t>workflow</a:t>
            </a:r>
            <a:endParaRPr sz="73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134600" y="1943100"/>
            <a:ext cx="4330700" cy="1104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800" b="0" i="0">
                <a:solidFill>
                  <a:srgbClr val="1E1F1B"/>
                </a:solidFill>
                <a:latin typeface="DejaVu Sans"/>
                <a:ea typeface="DejaVu Sans"/>
                <a:cs typeface="DejaVu Sans"/>
              </a:rPr>
              <a:t>property.</a:t>
            </a:r>
            <a:endParaRPr sz="73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38700" y="2082800"/>
            <a:ext cx="558800" cy="647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800" b="0" i="0">
                <a:solidFill>
                  <a:srgbClr val="1D1D1A"/>
                </a:solidFill>
                <a:latin typeface="DejaVu Sans"/>
                <a:ea typeface="DejaVu Sans"/>
                <a:cs typeface="DejaVu Sans"/>
              </a:rPr>
              <a:t>a</a:t>
            </a:r>
            <a:endParaRPr sz="55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0100" y="3759200"/>
            <a:ext cx="4019550" cy="342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34332D"/>
                </a:solidFill>
                <a:latin typeface="Noto Sans CJK TC"/>
                <a:ea typeface="Noto Sans CJK TC"/>
                <a:cs typeface="Noto Sans CJK TC"/>
              </a:rPr>
              <a:t>Route：降低找錯資料源風險</a:t>
            </a:r>
            <a:endParaRPr sz="23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64700" y="4572000"/>
            <a:ext cx="4991100" cy="4254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35352E"/>
                </a:solidFill>
                <a:latin typeface="Noto Sans CJK TC"/>
                <a:ea typeface="Noto Sans CJK TC"/>
                <a:cs typeface="Noto Sans CJK TC"/>
              </a:rPr>
              <a:t>Hybrid Search: 降低漏找證據風險</a:t>
            </a:r>
            <a:endParaRPr sz="24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71050" y="5441950"/>
            <a:ext cx="3397250" cy="342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33342D"/>
                </a:solidFill>
                <a:latin typeface="Noto Sans CJK TC"/>
                <a:ea typeface="Noto Sans CJK TC"/>
                <a:cs typeface="Noto Sans CJK TC"/>
              </a:rPr>
              <a:t>Validate:降低幻覺風險</a:t>
            </a:r>
            <a:endParaRPr sz="25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77400" y="6273800"/>
            <a:ext cx="4641850" cy="361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33322C"/>
                </a:solidFill>
                <a:latin typeface="Noto Sans CJK TC"/>
                <a:ea typeface="Noto Sans CJK TC"/>
                <a:cs typeface="Noto Sans CJK TC"/>
              </a:rPr>
              <a:t>Rewrite: 降低首次檢索失敗風險</a:t>
            </a:r>
            <a:endParaRPr sz="24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71050" y="7118350"/>
            <a:ext cx="3644900" cy="361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34332D"/>
                </a:solidFill>
                <a:latin typeface="Noto Sans CJK TC"/>
                <a:ea typeface="Noto Sans CJK TC"/>
                <a:cs typeface="Noto Sans CJK TC"/>
              </a:rPr>
              <a:t>Trace: 降低不可稽核風險</a:t>
            </a:r>
            <a:endParaRPr sz="24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19500" y="8235950"/>
            <a:ext cx="10039350" cy="685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3700" b="0" i="0">
                <a:solidFill>
                  <a:srgbClr val="22211A"/>
                </a:solidFill>
                <a:latin typeface="Noto Sans CJK TC"/>
                <a:ea typeface="Noto Sans CJK TC"/>
                <a:cs typeface="Noto Sans CJK TC"/>
              </a:rPr>
              <a:t>準確度不是靠更大模型，而是靠可驗證流程。</a:t>
            </a:r>
            <a:endParaRPr sz="37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109950" y="9480550"/>
            <a:ext cx="1244600" cy="1714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4D4C48"/>
                </a:solidFill>
                <a:latin typeface="DejaVu Sans"/>
                <a:ea typeface="DejaVu Sans"/>
                <a:cs typeface="DejaVu Sans"/>
              </a:rPr>
              <a:t>NotebookLM</a:t>
            </a:r>
            <a:endParaRPr sz="1200" b="1" i="0">
              <a:latin typeface="DejaVu Sans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501650"/>
            <a:ext cx="10814050" cy="6794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200" b="1" i="0">
                <a:solidFill>
                  <a:srgbClr val="353B3B"/>
                </a:solidFill>
                <a:latin typeface="Noto Sans CJK TC"/>
                <a:ea typeface="Noto Sans CJK TC"/>
                <a:cs typeface="Noto Sans CJK TC"/>
              </a:rPr>
              <a:t>準確率要可信，必須先定義嚴格的評分標準</a:t>
            </a:r>
            <a:endParaRPr sz="42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5200" y="1536700"/>
            <a:ext cx="8020050" cy="3683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393834"/>
                </a:solidFill>
                <a:latin typeface="Noto Sans CJK TC"/>
                <a:ea typeface="Noto Sans CJK TC"/>
                <a:cs typeface="Noto Sans CJK TC"/>
              </a:rPr>
              <a:t>基準：金融業Al_RAG_Benchmark_100題_乾淨修正版.xlsx</a:t>
            </a:r>
            <a:endParaRPr sz="22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357350" y="3219450"/>
            <a:ext cx="800100" cy="463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900" b="0" i="0">
                <a:solidFill>
                  <a:srgbClr val="282725"/>
                </a:solidFill>
                <a:latin typeface="Noto Sans CJK TC"/>
                <a:ea typeface="Noto Sans CJK TC"/>
                <a:cs typeface="Noto Sans CJK TC"/>
              </a:rPr>
              <a:t>正確</a:t>
            </a:r>
            <a:endParaRPr sz="29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44650" y="3232150"/>
            <a:ext cx="2127250" cy="4381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900" b="0" i="0">
                <a:solidFill>
                  <a:srgbClr val="2E2E2A"/>
                </a:solidFill>
                <a:latin typeface="Noto Sans CJK TC"/>
                <a:ea typeface="Noto Sans CJK TC"/>
                <a:cs typeface="Noto Sans CJK TC"/>
              </a:rPr>
              <a:t>錯誤/不安全</a:t>
            </a:r>
            <a:endParaRPr sz="29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88050" y="3232150"/>
            <a:ext cx="1485900" cy="4381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2D2C29"/>
                </a:solidFill>
                <a:latin typeface="Noto Sans CJK TC"/>
                <a:ea typeface="Noto Sans CJK TC"/>
                <a:cs typeface="Noto Sans CJK TC"/>
              </a:rPr>
              <a:t>拒答正確</a:t>
            </a:r>
            <a:endParaRPr sz="27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07600" y="3232150"/>
            <a:ext cx="1473200" cy="4254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2A2926"/>
                </a:solidFill>
                <a:latin typeface="Noto Sans CJK TC"/>
                <a:ea typeface="Noto Sans CJK TC"/>
                <a:cs typeface="Noto Sans CJK TC"/>
              </a:rPr>
              <a:t>部分正確</a:t>
            </a:r>
            <a:endParaRPr sz="27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33950" y="5486400"/>
            <a:ext cx="3498850" cy="4381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1A1A17"/>
                </a:solidFill>
                <a:latin typeface="Noto Sans CJK TC"/>
                <a:ea typeface="Noto Sans CJK TC"/>
                <a:cs typeface="Noto Sans CJK TC"/>
              </a:rPr>
              <a:t>部分正確：方向正確，</a:t>
            </a:r>
            <a:endParaRPr sz="25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998450" y="5492750"/>
            <a:ext cx="3568700" cy="431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93503A"/>
                </a:solidFill>
                <a:latin typeface="Noto Sans CJK TC"/>
                <a:ea typeface="Noto Sans CJK TC"/>
                <a:cs typeface="Noto Sans CJK TC"/>
              </a:rPr>
              <a:t>錯誤/不安全：與正解</a:t>
            </a:r>
            <a:endParaRPr sz="28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78900" y="5499100"/>
            <a:ext cx="3606800" cy="4064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22221F"/>
                </a:solidFill>
                <a:latin typeface="Noto Sans CJK TC"/>
                <a:ea typeface="Noto Sans CJK TC"/>
                <a:cs typeface="Noto Sans CJK TC"/>
              </a:rPr>
              <a:t>拒答正確：題目不應回</a:t>
            </a:r>
            <a:endParaRPr sz="26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9950" y="5505450"/>
            <a:ext cx="3238500" cy="4127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272723"/>
                </a:solidFill>
                <a:latin typeface="Noto Sans CJK TC"/>
                <a:ea typeface="Noto Sans CJK TC"/>
                <a:cs typeface="Noto Sans CJK TC"/>
              </a:rPr>
              <a:t>正確：完整命中標準</a:t>
            </a:r>
            <a:endParaRPr sz="26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40300" y="6000750"/>
            <a:ext cx="3695700" cy="431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2F2F2B"/>
                </a:solidFill>
                <a:latin typeface="Noto Sans CJK TC"/>
                <a:ea typeface="Noto Sans CJK TC"/>
                <a:cs typeface="Noto Sans CJK TC"/>
              </a:rPr>
              <a:t>但缺少部分條件限制。</a:t>
            </a:r>
            <a:endParaRPr sz="27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3600" y="6007100"/>
            <a:ext cx="3162300" cy="431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353531"/>
                </a:solidFill>
                <a:latin typeface="Noto Sans CJK TC"/>
                <a:ea typeface="Noto Sans CJK TC"/>
                <a:cs typeface="Noto Sans CJK TC"/>
              </a:rPr>
              <a:t>答案，無錯誤資訊。</a:t>
            </a:r>
            <a:endParaRPr sz="26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017500" y="6013450"/>
            <a:ext cx="3238500" cy="4127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302F2B"/>
                </a:solidFill>
                <a:latin typeface="Noto Sans CJK TC"/>
                <a:ea typeface="Noto Sans CJK TC"/>
                <a:cs typeface="Noto Sans CJK TC"/>
              </a:rPr>
              <a:t>不符，或不應回答卻</a:t>
            </a:r>
            <a:endParaRPr sz="26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91600" y="6019800"/>
            <a:ext cx="3162300" cy="393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302F2C"/>
                </a:solidFill>
                <a:latin typeface="Noto Sans CJK TC"/>
                <a:ea typeface="Noto Sans CJK TC"/>
                <a:cs typeface="Noto Sans CJK TC"/>
              </a:rPr>
              <a:t>答，系統明確拒絕。</a:t>
            </a:r>
            <a:endParaRPr sz="26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992100" y="6515100"/>
            <a:ext cx="1028700" cy="4381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2E2D29"/>
                </a:solidFill>
                <a:latin typeface="Noto Sans CJK TC"/>
                <a:ea typeface="Noto Sans CJK TC"/>
                <a:cs typeface="Noto Sans CJK TC"/>
              </a:rPr>
              <a:t>回答。</a:t>
            </a:r>
            <a:endParaRPr sz="25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75250" y="6521450"/>
            <a:ext cx="2774950" cy="4254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2F2F2C"/>
                </a:solidFill>
                <a:latin typeface="Noto Sans CJK TC"/>
                <a:ea typeface="Noto Sans CJK TC"/>
                <a:cs typeface="Noto Sans CJK TC"/>
              </a:rPr>
              <a:t>(計入加權準確率)</a:t>
            </a:r>
            <a:endParaRPr sz="22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26550" y="6534150"/>
            <a:ext cx="3187700" cy="393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302E2B"/>
                </a:solidFill>
                <a:latin typeface="Noto Sans CJK TC"/>
                <a:ea typeface="Noto Sans CJK TC"/>
                <a:cs typeface="Noto Sans CJK TC"/>
              </a:rPr>
              <a:t>(計為正確安全行為)</a:t>
            </a:r>
            <a:endParaRPr sz="20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252450" y="7035800"/>
            <a:ext cx="3270250" cy="431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32312E"/>
                </a:solidFill>
                <a:latin typeface="Noto Sans CJK TC"/>
                <a:ea typeface="Noto Sans CJK TC"/>
                <a:cs typeface="Noto Sans CJK TC"/>
              </a:rPr>
              <a:t>(零容忍/高風險失敗)</a:t>
            </a:r>
            <a:endParaRPr sz="22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247900" y="8077200"/>
            <a:ext cx="12839700" cy="4572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10100D"/>
                </a:solidFill>
                <a:latin typeface="Noto Sans CJK TC"/>
                <a:ea typeface="Noto Sans CJK TC"/>
                <a:cs typeface="Noto Sans CJK TC"/>
              </a:rPr>
              <a:t>對金融業來說，準確率不是只有答對率，還要看它能不能避免不安全回答。</a:t>
            </a:r>
            <a:endParaRPr sz="28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122650" y="9486900"/>
            <a:ext cx="1219200" cy="1524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4B4A47"/>
                </a:solidFill>
                <a:latin typeface="DejaVu Sans"/>
                <a:ea typeface="DejaVu Sans"/>
                <a:cs typeface="DejaVu Sans"/>
              </a:rPr>
              <a:t>NotebookLM</a:t>
            </a:r>
            <a:endParaRPr sz="1200" b="1" i="0">
              <a:latin typeface="DejaVu Sans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9450" y="463550"/>
            <a:ext cx="5689600" cy="7810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600" b="1" i="0">
                <a:solidFill>
                  <a:srgbClr val="262721"/>
                </a:solidFill>
                <a:latin typeface="Noto Sans CJK TC"/>
                <a:ea typeface="Noto Sans CJK TC"/>
                <a:cs typeface="Noto Sans CJK TC"/>
              </a:rPr>
              <a:t>真實環境下的金融級</a:t>
            </a:r>
            <a:endParaRPr sz="46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66050" y="495300"/>
            <a:ext cx="26225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800" b="1" i="0">
                <a:solidFill>
                  <a:srgbClr val="25261F"/>
                </a:solidFill>
                <a:latin typeface="Noto Sans CJK TC"/>
                <a:ea typeface="Noto Sans CJK TC"/>
                <a:cs typeface="Noto Sans CJK TC"/>
              </a:rPr>
              <a:t>評測數據</a:t>
            </a:r>
            <a:endParaRPr sz="48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18250" y="539750"/>
            <a:ext cx="1524000" cy="647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800" b="1" i="0">
                <a:solidFill>
                  <a:srgbClr val="262721"/>
                </a:solidFill>
                <a:latin typeface="DejaVu Sans"/>
                <a:ea typeface="DejaVu Sans"/>
                <a:cs typeface="DejaVu Sans"/>
              </a:rPr>
              <a:t>RAG</a:t>
            </a:r>
            <a:endParaRPr sz="4800" b="1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41450" y="1974850"/>
            <a:ext cx="2635250" cy="9080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6800" b="1" i="0">
                <a:solidFill>
                  <a:srgbClr val="23241E"/>
                </a:solidFill>
                <a:latin typeface="Noto Sans CJK TC"/>
                <a:ea typeface="Noto Sans CJK TC"/>
                <a:cs typeface="Noto Sans CJK TC"/>
              </a:rPr>
              <a:t>97.5%</a:t>
            </a:r>
            <a:endParaRPr sz="68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20850" y="2946400"/>
            <a:ext cx="2063750" cy="482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30302B"/>
                </a:solidFill>
                <a:latin typeface="Noto Sans CJK TC"/>
                <a:ea typeface="Noto Sans CJK TC"/>
                <a:cs typeface="Noto Sans CJK TC"/>
              </a:rPr>
              <a:t>[加權準確率]</a:t>
            </a:r>
            <a:endParaRPr sz="24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398500" y="3200400"/>
            <a:ext cx="2597150" cy="393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30302B"/>
                </a:solidFill>
                <a:latin typeface="Noto Sans CJK TC"/>
                <a:ea typeface="Noto Sans CJK TC"/>
                <a:cs typeface="Noto Sans CJK TC"/>
              </a:rPr>
              <a:t>平均延遲:3.56秒</a:t>
            </a:r>
            <a:endParaRPr sz="26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41450" y="3968750"/>
            <a:ext cx="2622550" cy="901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6800" b="1" i="0">
                <a:solidFill>
                  <a:srgbClr val="22231D"/>
                </a:solidFill>
                <a:latin typeface="Noto Sans CJK TC"/>
                <a:ea typeface="Noto Sans CJK TC"/>
                <a:cs typeface="Noto Sans CJK TC"/>
              </a:rPr>
              <a:t>95.0%</a:t>
            </a:r>
            <a:endParaRPr sz="68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20850" y="4940300"/>
            <a:ext cx="2070100" cy="482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2D2D29"/>
                </a:solidFill>
                <a:latin typeface="Noto Sans CJK TC"/>
                <a:ea typeface="Noto Sans CJK TC"/>
                <a:cs typeface="Noto Sans CJK TC"/>
              </a:rPr>
              <a:t>[嚴格正確率]</a:t>
            </a:r>
            <a:endParaRPr sz="24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747750" y="5276850"/>
            <a:ext cx="1892300" cy="4381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2C2C26"/>
                </a:solidFill>
                <a:latin typeface="Noto Sans CJK TC"/>
                <a:ea typeface="Noto Sans CJK TC"/>
                <a:cs typeface="Noto Sans CJK TC"/>
              </a:rPr>
              <a:t>P50:3.59秒</a:t>
            </a:r>
            <a:endParaRPr sz="28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19200" y="5962650"/>
            <a:ext cx="3092450" cy="8953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6700" b="1" i="0">
                <a:solidFill>
                  <a:srgbClr val="22231D"/>
                </a:solidFill>
                <a:latin typeface="Noto Sans CJK TC"/>
                <a:ea typeface="Noto Sans CJK TC"/>
                <a:cs typeface="Noto Sans CJK TC"/>
              </a:rPr>
              <a:t>100.0%</a:t>
            </a:r>
            <a:endParaRPr sz="67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01800" y="6908800"/>
            <a:ext cx="2108200" cy="5080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3332E"/>
                </a:solidFill>
                <a:latin typeface="Noto Sans CJK TC"/>
                <a:ea typeface="Noto Sans CJK TC"/>
                <a:cs typeface="Noto Sans CJK TC"/>
              </a:rPr>
              <a:t>[寬鬆命中率]</a:t>
            </a:r>
            <a:endParaRPr sz="25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77000" y="6953250"/>
            <a:ext cx="4508500" cy="755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500" b="1" i="0">
                <a:solidFill>
                  <a:srgbClr val="23231D"/>
                </a:solidFill>
                <a:latin typeface="Noto Sans CJK TC"/>
                <a:ea typeface="Noto Sans CJK TC"/>
                <a:cs typeface="Noto Sans CJK TC"/>
              </a:rPr>
              <a:t>錯誤/不安全回答</a:t>
            </a:r>
            <a:endParaRPr sz="45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747750" y="7378700"/>
            <a:ext cx="1879600" cy="4191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292924"/>
                </a:solidFill>
                <a:latin typeface="Noto Sans CJK TC"/>
                <a:ea typeface="Noto Sans CJK TC"/>
                <a:cs typeface="Noto Sans CJK TC"/>
              </a:rPr>
              <a:t>P95:6.19秒</a:t>
            </a:r>
            <a:endParaRPr sz="28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41400" y="7404100"/>
            <a:ext cx="3429000" cy="3873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353530"/>
                </a:solidFill>
                <a:latin typeface="Noto Sans CJK TC"/>
                <a:ea typeface="Noto Sans CJK TC"/>
                <a:cs typeface="Noto Sans CJK TC"/>
              </a:rPr>
              <a:t>(95題正確，5題部分正確)</a:t>
            </a:r>
            <a:endParaRPr sz="22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82650" y="8642350"/>
            <a:ext cx="2667000" cy="4508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2E2E2A"/>
                </a:solidFill>
                <a:latin typeface="Noto Sans CJK TC"/>
                <a:ea typeface="Noto Sans CJK TC"/>
                <a:cs typeface="Noto Sans CJK TC"/>
              </a:rPr>
              <a:t>高頻FAQ(98.8%)</a:t>
            </a:r>
            <a:endParaRPr sz="27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10050" y="8642350"/>
            <a:ext cx="2540000" cy="4445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3332E"/>
                </a:solidFill>
                <a:latin typeface="Noto Sans CJK TC"/>
                <a:ea typeface="Noto Sans CJK TC"/>
                <a:cs typeface="Noto Sans CJK TC"/>
              </a:rPr>
              <a:t>同義改寫 (100%)</a:t>
            </a:r>
            <a:endParaRPr sz="25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084300" y="8642350"/>
            <a:ext cx="2317750" cy="4572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53530"/>
                </a:solidFill>
                <a:latin typeface="Noto Sans CJK TC"/>
                <a:ea typeface="Noto Sans CJK TC"/>
                <a:cs typeface="Noto Sans CJK TC"/>
              </a:rPr>
              <a:t>邊界題 (86.7%)</a:t>
            </a:r>
            <a:endParaRPr sz="25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877550" y="8648700"/>
            <a:ext cx="2222500" cy="4508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1312C"/>
                </a:solidFill>
                <a:latin typeface="Noto Sans CJK TC"/>
                <a:ea typeface="Noto Sans CJK TC"/>
                <a:cs typeface="Noto Sans CJK TC"/>
              </a:rPr>
              <a:t>陷阱題 (100%)</a:t>
            </a:r>
            <a:endParaRPr sz="25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67600" y="8655050"/>
            <a:ext cx="2533650" cy="4381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1312D"/>
                </a:solidFill>
                <a:latin typeface="Noto Sans CJK TC"/>
                <a:ea typeface="Noto Sans CJK TC"/>
                <a:cs typeface="Noto Sans CJK TC"/>
              </a:rPr>
              <a:t>應拒答題 (100%)</a:t>
            </a:r>
            <a:endParaRPr sz="25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332200" y="9474200"/>
            <a:ext cx="1022350" cy="1714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4A4945"/>
                </a:solidFill>
                <a:latin typeface="DejaVu Sans"/>
                <a:ea typeface="DejaVu Sans"/>
                <a:cs typeface="DejaVu Sans"/>
              </a:rPr>
              <a:t>NotebookLM</a:t>
            </a:r>
            <a:endParaRPr sz="1000" b="1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135350" y="9499600"/>
            <a:ext cx="184150" cy="1270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CECBC1"/>
                </a:solidFill>
                <a:latin typeface="DejaVu Sans"/>
                <a:ea typeface="DejaVu Sans"/>
                <a:cs typeface="DejaVu Sans"/>
              </a:rPr>
              <a:t>A</a:t>
            </a:r>
            <a:endParaRPr sz="1100" b="1" i="0">
              <a:latin typeface="DejaVu Sans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7700" y="419100"/>
            <a:ext cx="10375900" cy="8572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200" b="1" i="0">
                <a:solidFill>
                  <a:srgbClr val="28291F"/>
                </a:solidFill>
                <a:latin typeface="Noto Sans CJK TC"/>
                <a:ea typeface="Noto Sans CJK TC"/>
                <a:cs typeface="Noto Sans CJK TC"/>
              </a:rPr>
              <a:t>實戰驗證：從文字問答走向即時語音支援</a:t>
            </a:r>
            <a:endParaRPr sz="4200" b="1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41550" y="1778000"/>
            <a:ext cx="4857750" cy="615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3100" b="0" i="0">
                <a:solidFill>
                  <a:srgbClr val="2B2B20"/>
                </a:solidFill>
                <a:latin typeface="Noto Sans CJK TC"/>
                <a:ea typeface="Noto Sans CJK TC"/>
                <a:cs typeface="Noto Sans CJK TC"/>
              </a:rPr>
              <a:t>内勤IT 支援 (Web/Teams)</a:t>
            </a:r>
            <a:endParaRPr sz="31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23500" y="1803400"/>
            <a:ext cx="5105400" cy="5842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3200" b="0" i="0">
                <a:solidFill>
                  <a:srgbClr val="2B2A1F"/>
                </a:solidFill>
                <a:latin typeface="Noto Sans CJK TC"/>
                <a:ea typeface="Noto Sans CJK TC"/>
                <a:cs typeface="Noto Sans CJK TC"/>
              </a:rPr>
              <a:t>外勤IT支援(Mobile/Voice)</a:t>
            </a:r>
            <a:endParaRPr sz="32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68600" y="5994400"/>
            <a:ext cx="3448050" cy="4572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32322C"/>
                </a:solidFill>
                <a:latin typeface="Noto Sans CJK TC"/>
                <a:ea typeface="Noto Sans CJK TC"/>
                <a:cs typeface="Noto Sans CJK TC"/>
              </a:rPr>
              <a:t>- 系統操作與權限查詢</a:t>
            </a:r>
            <a:endParaRPr sz="26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85500" y="6000750"/>
            <a:ext cx="3441700" cy="4572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2B2B26"/>
                </a:solidFill>
                <a:latin typeface="Noto Sans CJK TC"/>
                <a:ea typeface="Noto Sans CJK TC"/>
                <a:cs typeface="Noto Sans CJK TC"/>
              </a:rPr>
              <a:t>- 行動中語音即時提問</a:t>
            </a:r>
            <a:endParaRPr sz="26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62250" y="6515100"/>
            <a:ext cx="3943350" cy="4762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302F2A"/>
                </a:solidFill>
                <a:latin typeface="Noto Sans CJK TC"/>
                <a:ea typeface="Noto Sans CJK TC"/>
                <a:cs typeface="Noto Sans CJK TC"/>
              </a:rPr>
              <a:t>- 常見故障排除與IT 流程</a:t>
            </a:r>
            <a:endParaRPr sz="27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98200" y="6546850"/>
            <a:ext cx="3416300" cy="431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2E2E29"/>
                </a:solidFill>
                <a:latin typeface="Noto Sans CJK TC"/>
                <a:ea typeface="Noto Sans CJK TC"/>
                <a:cs typeface="Noto Sans CJK TC"/>
              </a:rPr>
              <a:t>- 降低等待與轉接成本</a:t>
            </a:r>
            <a:endParaRPr sz="26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04900" y="7797800"/>
            <a:ext cx="15151100" cy="469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34332E"/>
                </a:solidFill>
                <a:latin typeface="Noto Sans CJK TC"/>
                <a:ea typeface="Noto Sans CJK TC"/>
                <a:cs typeface="Noto Sans CJK TC"/>
              </a:rPr>
              <a:t>延遲控制在 P95 6.19秒，完美支撐語音互動節奏，並透過 Agent Trace 將問答紀錄反饋，持續優化知識庫。</a:t>
            </a:r>
            <a:endParaRPr sz="24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79800" y="8731250"/>
            <a:ext cx="10414000" cy="4508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171611"/>
                </a:solidFill>
                <a:latin typeface="Noto Sans CJK TC"/>
                <a:ea typeface="Noto Sans CJK TC"/>
                <a:cs typeface="Noto Sans CJK TC"/>
              </a:rPr>
              <a:t>這不是單點客服機器人，而是面向內外勤場景的IT資訊服務入口。</a:t>
            </a:r>
            <a:endParaRPr sz="26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122650" y="9486900"/>
            <a:ext cx="1225550" cy="1524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4A4945"/>
                </a:solidFill>
                <a:latin typeface="DejaVu Sans"/>
                <a:ea typeface="DejaVu Sans"/>
                <a:cs typeface="DejaVu Sans"/>
              </a:rPr>
              <a:t>NotebookLM</a:t>
            </a:r>
            <a:endParaRPr sz="1200" b="1" i="0">
              <a:latin typeface="DejaVu Sans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32300" y="755650"/>
            <a:ext cx="6972300" cy="863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5000" b="0" i="0">
                <a:solidFill>
                  <a:srgbClr val="EDEBDC"/>
                </a:solidFill>
                <a:latin typeface="DejaVu Sans"/>
                <a:ea typeface="DejaVu Sans"/>
                <a:cs typeface="DejaVu Sans"/>
              </a:rPr>
              <a:t>Demo to Operational</a:t>
            </a:r>
            <a:endParaRPr sz="50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388850" y="755650"/>
            <a:ext cx="3454400" cy="9080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800" b="0" i="0">
                <a:solidFill>
                  <a:srgbClr val="EEEBDC"/>
                </a:solidFill>
                <a:latin typeface="DejaVu Sans"/>
                <a:ea typeface="DejaVu Sans"/>
                <a:cs typeface="DejaVu Sans"/>
              </a:rPr>
              <a:t>Capability</a:t>
            </a:r>
            <a:endParaRPr sz="52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63700" y="806450"/>
            <a:ext cx="3155950" cy="6413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800" b="0" i="0">
                <a:solidFill>
                  <a:srgbClr val="EDEBDD"/>
                </a:solidFill>
                <a:latin typeface="DejaVu Sans"/>
                <a:ea typeface="DejaVu Sans"/>
                <a:cs typeface="DejaVu Sans"/>
              </a:rPr>
              <a:t>FromAII</a:t>
            </a:r>
            <a:endParaRPr sz="54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74450" y="806450"/>
            <a:ext cx="901700" cy="6985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800" b="0" i="0">
                <a:solidFill>
                  <a:srgbClr val="EEEBDD"/>
                </a:solidFill>
                <a:latin typeface="DejaVu Sans"/>
                <a:ea typeface="DejaVu Sans"/>
                <a:cs typeface="DejaVu Sans"/>
              </a:rPr>
              <a:t>AI</a:t>
            </a:r>
            <a:endParaRPr sz="59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50450" y="2457450"/>
            <a:ext cx="3924300" cy="628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3300" b="0" i="0">
                <a:solidFill>
                  <a:srgbClr val="DFDFD6"/>
                </a:solidFill>
                <a:latin typeface="Noto Sans CJK TC"/>
                <a:ea typeface="Noto Sans CJK TC"/>
                <a:cs typeface="Noto Sans CJK TC"/>
              </a:rPr>
              <a:t>[After] Agentic 平台</a:t>
            </a:r>
            <a:endParaRPr sz="33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98900" y="2489200"/>
            <a:ext cx="3467100" cy="5461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3200" b="0" i="0">
                <a:solidFill>
                  <a:srgbClr val="DDDCD3"/>
                </a:solidFill>
                <a:latin typeface="Noto Sans CJK TC"/>
                <a:ea typeface="Noto Sans CJK TC"/>
                <a:cs typeface="Noto Sans CJK TC"/>
              </a:rPr>
              <a:t>[Before] 傳統流程</a:t>
            </a:r>
            <a:endParaRPr sz="32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73400" y="3562350"/>
            <a:ext cx="5022850" cy="469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3300" b="0" i="0">
                <a:solidFill>
                  <a:srgbClr val="DADAD0"/>
                </a:solidFill>
                <a:latin typeface="Noto Sans CJK TC"/>
                <a:ea typeface="Noto Sans CJK TC"/>
                <a:cs typeface="Noto Sans CJK TC"/>
              </a:rPr>
              <a:t>人找資料、外勤無法查知</a:t>
            </a:r>
            <a:endParaRPr sz="33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201150" y="3568700"/>
            <a:ext cx="5022850" cy="469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3300" b="0" i="0">
                <a:solidFill>
                  <a:srgbClr val="D9D9CF"/>
                </a:solidFill>
                <a:latin typeface="Noto Sans CJK TC"/>
                <a:ea typeface="Noto Sans CJK TC"/>
                <a:cs typeface="Noto Sans CJK TC"/>
              </a:rPr>
              <a:t>資料主動服務人行動語音</a:t>
            </a:r>
            <a:endParaRPr sz="33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48000" y="4102100"/>
            <a:ext cx="2413000" cy="501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2900" b="0" i="0">
                <a:solidFill>
                  <a:srgbClr val="D7D8CE"/>
                </a:solidFill>
                <a:latin typeface="Noto Sans CJK TC"/>
                <a:ea typeface="Noto Sans CJK TC"/>
                <a:cs typeface="Noto Sans CJK TC"/>
              </a:rPr>
              <a:t>識庫無回饋。</a:t>
            </a:r>
            <a:endParaRPr sz="29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01150" y="4114800"/>
            <a:ext cx="4889500" cy="469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3000" b="0" i="0">
                <a:solidFill>
                  <a:srgbClr val="D8D8CF"/>
                </a:solidFill>
                <a:latin typeface="Noto Sans CJK TC"/>
                <a:ea typeface="Noto Sans CJK TC"/>
                <a:cs typeface="Noto Sans CJK TC"/>
              </a:rPr>
              <a:t>指引、紀錄自動反饋優化。</a:t>
            </a:r>
            <a:endParaRPr sz="30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57400" y="5721350"/>
            <a:ext cx="838200" cy="717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800" b="0" i="0">
                <a:solidFill>
                  <a:srgbClr val="AD5342"/>
                </a:solidFill>
                <a:latin typeface="DejaVu Sans"/>
                <a:ea typeface="DejaVu Sans"/>
                <a:cs typeface="DejaVu Sans"/>
              </a:rPr>
              <a:t>“</a:t>
            </a:r>
            <a:endParaRPr sz="60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67300" y="5861050"/>
            <a:ext cx="746125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3200" b="0" i="0">
                <a:solidFill>
                  <a:srgbClr val="DFDED5"/>
                </a:solidFill>
                <a:latin typeface="Noto Sans CJK TC"/>
                <a:ea typeface="Noto Sans CJK TC"/>
                <a:cs typeface="Noto Sans CJK TC"/>
              </a:rPr>
              <a:t>「快，是體驗問題。準，是信任問題。</a:t>
            </a:r>
            <a:endParaRPr sz="32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51200" y="6559550"/>
            <a:ext cx="10839450" cy="6350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3500" b="0" i="0">
                <a:solidFill>
                  <a:srgbClr val="E0DFD5"/>
                </a:solidFill>
                <a:latin typeface="Noto Sans CJK TC"/>
                <a:ea typeface="Noto Sans CJK TC"/>
                <a:cs typeface="Noto Sans CJK TC"/>
              </a:rPr>
              <a:t>可拒答、可追蹤、可稽核，才是金融業AI上線問題。</a:t>
            </a:r>
            <a:endParaRPr sz="35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95800" y="7308850"/>
            <a:ext cx="8223250" cy="596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3300" b="0" i="0">
                <a:solidFill>
                  <a:srgbClr val="E0DFD5"/>
                </a:solidFill>
                <a:latin typeface="Noto Sans CJK TC"/>
                <a:ea typeface="Noto Sans CJK TC"/>
                <a:cs typeface="Noto Sans CJK TC"/>
              </a:rPr>
              <a:t>下一階段的競爭，是營運系統的競爭。」</a:t>
            </a:r>
            <a:endParaRPr sz="3300" b="0" i="0"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573250" y="7353300"/>
            <a:ext cx="831850" cy="717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800" b="0" i="0">
                <a:solidFill>
                  <a:srgbClr val="AD5340"/>
                </a:solidFill>
                <a:latin typeface="DejaVu Sans"/>
                <a:ea typeface="DejaVu Sans"/>
                <a:cs typeface="DejaVu Sans"/>
              </a:rPr>
              <a:t>”,</a:t>
            </a:r>
            <a:endParaRPr sz="60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35800" y="9055100"/>
            <a:ext cx="1200150" cy="3238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900" b="0" i="0">
                <a:solidFill>
                  <a:srgbClr val="C8C9C0"/>
                </a:solidFill>
                <a:latin typeface="DejaVu Sans"/>
                <a:ea typeface="DejaVu Sans"/>
                <a:cs typeface="DejaVu Sans"/>
              </a:rPr>
              <a:t>Accuracy</a:t>
            </a:r>
            <a:endParaRPr sz="19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85200" y="9055100"/>
            <a:ext cx="1562100" cy="304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900" b="0" i="0">
                <a:solidFill>
                  <a:srgbClr val="C7C7BD"/>
                </a:solidFill>
                <a:latin typeface="DejaVu Sans"/>
                <a:ea typeface="DejaVu Sans"/>
                <a:cs typeface="DejaVu Sans"/>
              </a:rPr>
              <a:t>Governance</a:t>
            </a:r>
            <a:endParaRPr sz="19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51450" y="9061450"/>
            <a:ext cx="1409700" cy="304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900" b="0" i="0">
                <a:solidFill>
                  <a:srgbClr val="CACBC2"/>
                </a:solidFill>
                <a:latin typeface="DejaVu Sans"/>
                <a:ea typeface="DejaVu Sans"/>
                <a:cs typeface="DejaVu Sans"/>
              </a:rPr>
              <a:t>Integration</a:t>
            </a:r>
            <a:endParaRPr sz="19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515600" y="9061450"/>
            <a:ext cx="1689100" cy="3111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900" b="0" i="0">
                <a:solidFill>
                  <a:srgbClr val="C8C9C0"/>
                </a:solidFill>
                <a:latin typeface="DejaVu Sans"/>
                <a:ea typeface="DejaVu Sans"/>
                <a:cs typeface="DejaVu Sans"/>
              </a:rPr>
              <a:t>Observability</a:t>
            </a:r>
            <a:endParaRPr sz="1900" b="0" i="0">
              <a:latin typeface="DejaVu Sans"/>
              <a:ea typeface="DejaVu Sans"/>
              <a:cs typeface="DejaVu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332200" y="9474200"/>
            <a:ext cx="1022350" cy="177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BCBDBD"/>
                </a:solidFill>
                <a:latin typeface="DejaVu Sans"/>
                <a:ea typeface="DejaVu Sans"/>
                <a:cs typeface="DejaVu Sans"/>
              </a:rPr>
              <a:t>NotebookLM</a:t>
            </a:r>
            <a:endParaRPr sz="1000" b="1" i="0">
              <a:latin typeface="DejaVu Sans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