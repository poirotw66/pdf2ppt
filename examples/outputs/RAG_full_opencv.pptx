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7475200" cy="975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6350" y="1200150"/>
            <a:ext cx="2222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D1D5D8"/>
                </a:solidFill>
                <a:latin typeface="DejaVu Sans"/>
              </a:rPr>
              <a:t>14</a:t>
            </a:r>
            <a:endParaRPr sz="1200" b="1" i="0">
              <a:latin typeface="DejaVu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442950" y="1212850"/>
            <a:ext cx="2032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CBCED5"/>
                </a:solidFill>
                <a:latin typeface="DejaVu Sans"/>
              </a:rPr>
              <a:t>15</a:t>
            </a:r>
            <a:endParaRPr sz="1100" b="1" i="0">
              <a:latin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02750" y="1504950"/>
            <a:ext cx="1612900" cy="19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75797C"/>
                </a:solidFill>
                <a:latin typeface="DejaVu Sans"/>
              </a:rPr>
              <a:t>AGENTIC LOGIC PATHS</a:t>
            </a:r>
            <a:endParaRPr sz="1000" b="1" i="0">
              <a:latin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63300" y="1695450"/>
            <a:ext cx="203200" cy="165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D7D6C4"/>
                </a:solidFill>
                <a:latin typeface="DejaVu Sans"/>
              </a:rPr>
              <a:t>10</a:t>
            </a:r>
            <a:endParaRPr sz="1100" b="1" i="0">
              <a:latin typeface="DejaVu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29050" y="1911350"/>
            <a:ext cx="20320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D0D4D7"/>
                </a:solidFill>
                <a:latin typeface="DejaVu Sans"/>
              </a:rPr>
              <a:t>10</a:t>
            </a:r>
            <a:endParaRPr sz="1100" b="1" i="0">
              <a:latin typeface="DejaVu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442950" y="1911350"/>
            <a:ext cx="2032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CBCED5"/>
                </a:solidFill>
                <a:latin typeface="DejaVu Sans"/>
              </a:rPr>
              <a:t>10</a:t>
            </a:r>
            <a:endParaRPr sz="1100" b="1" i="0">
              <a:latin typeface="DejaVu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33200" y="2082800"/>
            <a:ext cx="2286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CFCDBC"/>
                </a:solidFill>
                <a:latin typeface="DejaVu Sans"/>
              </a:rPr>
              <a:t>KA</a:t>
            </a:r>
            <a:endParaRPr sz="1300" b="1" i="0">
              <a:latin typeface="DejaVu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17150" y="2101850"/>
            <a:ext cx="2667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D4D6BF"/>
                </a:solidFill>
                <a:latin typeface="DejaVu Sans"/>
              </a:rPr>
              <a:t>NG</a:t>
            </a:r>
            <a:endParaRPr sz="1300" b="1" i="0">
              <a:latin typeface="DejaVu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71700" y="2451100"/>
            <a:ext cx="14414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7B7E80"/>
                </a:solidFill>
                <a:latin typeface="DejaVu Sans"/>
              </a:rPr>
              <a:t>VECTOR EMBEDDINGS</a:t>
            </a:r>
            <a:endParaRPr sz="900" b="1" i="0">
              <a:latin typeface="DejaVu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35050" y="259080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7C8084"/>
                </a:solidFill>
                <a:latin typeface="DejaVu Sans"/>
              </a:rPr>
              <a:t>CONTEXTUAL ROUTING</a:t>
            </a:r>
            <a:endParaRPr sz="900" b="1" i="0">
              <a:latin typeface="DejaVu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248900" y="2762250"/>
            <a:ext cx="2032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D3D6C3"/>
                </a:solidFill>
                <a:latin typeface="DejaVu Sans"/>
              </a:rPr>
              <a:t>NG</a:t>
            </a:r>
            <a:endParaRPr sz="1000" b="0" i="0">
              <a:latin typeface="DejaVu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35050" y="2857500"/>
            <a:ext cx="16065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74787D"/>
                </a:solidFill>
                <a:latin typeface="DejaVu Sans"/>
              </a:rPr>
              <a:t>PRECISION INFERENCE</a:t>
            </a:r>
            <a:endParaRPr sz="1000" b="1" i="0">
              <a:latin typeface="DejaVu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86200" y="3035300"/>
            <a:ext cx="1397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D6D5DA"/>
                </a:solidFill>
                <a:latin typeface="DejaVu Sans"/>
              </a:rPr>
              <a:t>2</a:t>
            </a:r>
            <a:endParaRPr sz="1300" b="1" i="0">
              <a:latin typeface="DejaVu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703300" y="3695700"/>
            <a:ext cx="15557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777C81"/>
                </a:solidFill>
                <a:latin typeface="DejaVu Sans"/>
              </a:rPr>
              <a:t>TARGET NODE LOCKED</a:t>
            </a:r>
            <a:endParaRPr sz="1000" b="1" i="0">
              <a:latin typeface="DejaVu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78050" y="3702050"/>
            <a:ext cx="143510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7D8184"/>
                </a:solidFill>
                <a:latin typeface="DejaVu Sans"/>
              </a:rPr>
              <a:t>SENANTIC CLUSTERS</a:t>
            </a:r>
            <a:endParaRPr sz="1000" b="1" i="0">
              <a:latin typeface="DejaVu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60800" y="3714750"/>
            <a:ext cx="19685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C9CDD0"/>
                </a:solidFill>
                <a:latin typeface="DejaVu Sans"/>
              </a:rPr>
              <a:t>0</a:t>
            </a:r>
            <a:endParaRPr sz="1300" b="1" i="0">
              <a:latin typeface="DejaVu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442950" y="3727450"/>
            <a:ext cx="177800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C6CBD1"/>
                </a:solidFill>
                <a:latin typeface="DejaVu Sans"/>
              </a:rPr>
              <a:t>0</a:t>
            </a:r>
            <a:endParaRPr sz="1100" b="1" i="0">
              <a:latin typeface="DejaVu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79850" y="4362450"/>
            <a:ext cx="127000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D4D8DB"/>
                </a:solidFill>
                <a:latin typeface="Noto Sans CJK TC"/>
              </a:rPr>
              <a:t>-2</a:t>
            </a:r>
            <a:endParaRPr sz="800" b="1" i="0">
              <a:latin typeface="Noto Sans CJK T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645900" y="4457700"/>
            <a:ext cx="1905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D0CEBD"/>
                </a:solidFill>
                <a:latin typeface="DejaVu Sans"/>
              </a:rPr>
              <a:t>AC</a:t>
            </a:r>
            <a:endParaRPr sz="1000" b="1" i="0">
              <a:latin typeface="DejaVu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735050" y="473075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73787E"/>
                </a:solidFill>
                <a:latin typeface="DejaVu Sans"/>
              </a:rPr>
              <a:t>TARGET NODE LOCKED</a:t>
            </a:r>
            <a:endParaRPr sz="900" b="1" i="0">
              <a:latin typeface="DejaVu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71700" y="4768850"/>
            <a:ext cx="14414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76797C"/>
                </a:solidFill>
                <a:latin typeface="DejaVu Sans"/>
              </a:rPr>
              <a:t>VECTOR EMBEDDINGS</a:t>
            </a:r>
            <a:endParaRPr sz="900" b="1" i="0">
              <a:latin typeface="DejaVu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664950" y="5086350"/>
            <a:ext cx="165100" cy="139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D2D2BE"/>
                </a:solidFill>
                <a:latin typeface="DejaVu Sans"/>
              </a:rPr>
              <a:t>M</a:t>
            </a:r>
            <a:endParaRPr sz="1100" b="1" i="0">
              <a:latin typeface="DejaVu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19400" y="5130800"/>
            <a:ext cx="806450" cy="19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828689"/>
                </a:solidFill>
                <a:latin typeface="DejaVu Sans"/>
              </a:rPr>
              <a:t>Fira Code</a:t>
            </a:r>
            <a:endParaRPr sz="1200" b="1" i="0">
              <a:latin typeface="DejaVu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36200" y="5270500"/>
            <a:ext cx="234950" cy="146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D1D1C0"/>
                </a:solidFill>
                <a:latin typeface="DejaVu Sans"/>
              </a:rPr>
              <a:t>RA</a:t>
            </a:r>
            <a:endParaRPr sz="1100" b="1" i="0">
              <a:latin typeface="DejaVu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468350" y="5340350"/>
            <a:ext cx="27305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CACED4"/>
                </a:solidFill>
                <a:latin typeface="Noto Sans CJK TC"/>
              </a:rPr>
              <a:t>-10</a:t>
            </a:r>
            <a:endParaRPr sz="1300" b="1" i="0">
              <a:latin typeface="Noto Sans CJK T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645900" y="5638800"/>
            <a:ext cx="1905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CDC7B5"/>
                </a:solidFill>
                <a:latin typeface="DejaVu Sans"/>
              </a:rPr>
              <a:t>RO</a:t>
            </a:r>
            <a:endParaRPr sz="900" b="1" i="0">
              <a:latin typeface="DejaVu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302750" y="5829300"/>
            <a:ext cx="15367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73767B"/>
                </a:solidFill>
                <a:latin typeface="DejaVu Sans"/>
              </a:rPr>
              <a:t>CONTEXTUAL ROUTING</a:t>
            </a:r>
            <a:endParaRPr sz="900" b="0" i="0">
              <a:latin typeface="DejaVu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22700" y="6197600"/>
            <a:ext cx="20955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D0D4D7"/>
                </a:solidFill>
                <a:latin typeface="DejaVu Sans"/>
              </a:rPr>
              <a:t>10</a:t>
            </a:r>
            <a:endParaRPr sz="1200" b="1" i="0">
              <a:latin typeface="DejaVu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519150" y="6216650"/>
            <a:ext cx="171450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CBD0D6"/>
                </a:solidFill>
                <a:latin typeface="DejaVu Sans"/>
              </a:rPr>
              <a:t>15</a:t>
            </a:r>
            <a:endParaRPr sz="900" b="1" i="0">
              <a:latin typeface="DejaVu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00650" y="6375400"/>
            <a:ext cx="127000" cy="10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C7CCCF"/>
                </a:solidFill>
                <a:latin typeface="DejaVu Sans"/>
              </a:rPr>
              <a:t>6</a:t>
            </a:r>
            <a:endParaRPr sz="800" b="1" i="0">
              <a:latin typeface="DejaVu San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79700" y="7010400"/>
            <a:ext cx="12103100" cy="990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1D232B"/>
                </a:solidFill>
                <a:latin typeface="Noto Sans CJK TC"/>
              </a:rPr>
              <a:t>RAG 2026：當向量搜尋遇上代理推理</a:t>
            </a:r>
            <a:endParaRPr sz="4800" b="1" i="0">
              <a:latin typeface="Noto Sans CJK T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070350" y="8064500"/>
            <a:ext cx="9321800" cy="679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600" b="1" i="0">
                <a:solidFill>
                  <a:srgbClr val="34383E"/>
                </a:solidFill>
                <a:latin typeface="Noto Sans CJK TC"/>
              </a:rPr>
              <a:t>企業級 99%準確度AI架構的演進與實踐指南</a:t>
            </a:r>
            <a:endParaRPr sz="3600" b="1" i="0">
              <a:latin typeface="Noto Sans CJK T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319500" y="9461500"/>
            <a:ext cx="1047750" cy="19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4A4E55"/>
                </a:solidFill>
                <a:latin typeface="DejaVu Sans"/>
              </a:rPr>
              <a:t>NotebookLM</a:t>
            </a:r>
            <a:endParaRPr sz="1200" b="1" i="0">
              <a:latin typeface="DejaVu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8400" y="412750"/>
            <a:ext cx="15462250" cy="857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500" b="1" i="0">
                <a:solidFill>
                  <a:srgbClr val="1E1F1F"/>
                </a:solidFill>
                <a:latin typeface="Noto Sans CJK TC"/>
              </a:rPr>
              <a:t>「上下文盲視」揭示了 RAG1.0建立在脆弱的統計假象之上</a:t>
            </a:r>
            <a:endParaRPr sz="4500" b="1" i="0">
              <a:latin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48350" y="2101850"/>
            <a:ext cx="575945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242525"/>
                </a:solidFill>
                <a:latin typeface="DejaVu Sans"/>
              </a:rPr>
              <a:t>The Anatomy of Context Blindness</a:t>
            </a:r>
            <a:endParaRPr sz="2500" b="0" i="0">
              <a:latin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43700" y="2806700"/>
            <a:ext cx="177800" cy="165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B2B6B9"/>
                </a:solidFill>
                <a:latin typeface="Noto Sans CJK TC"/>
              </a:rPr>
              <a:t>中</a:t>
            </a:r>
            <a:endParaRPr sz="1200" b="0" i="0">
              <a:latin typeface="Noto Sans CJK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53700" y="2806700"/>
            <a:ext cx="18415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B2B7BD"/>
                </a:solidFill>
                <a:latin typeface="Noto Sans CJK TC"/>
              </a:rPr>
              <a:t>中</a:t>
            </a:r>
            <a:endParaRPr sz="1200" b="0" i="0">
              <a:latin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31150" y="3346450"/>
            <a:ext cx="161925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5F6A76"/>
                </a:solidFill>
                <a:latin typeface="DejaVu Sans"/>
              </a:rPr>
              <a:t>RRARNE</a:t>
            </a:r>
            <a:endParaRPr sz="2300" b="0" i="0">
              <a:latin typeface="DejaVu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706350" y="3384550"/>
            <a:ext cx="1720850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100" b="0" i="0">
                <a:solidFill>
                  <a:srgbClr val="F0F0F0"/>
                </a:solidFill>
                <a:latin typeface="Noto Sans CJK TC"/>
              </a:rPr>
              <a:t>根本原因</a:t>
            </a:r>
            <a:endParaRPr sz="3100" b="0" i="0">
              <a:latin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3600" y="3403600"/>
            <a:ext cx="1682750" cy="488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100" b="0" i="0">
                <a:solidFill>
                  <a:srgbClr val="E4EDF3"/>
                </a:solidFill>
                <a:latin typeface="Noto Sans CJK TC"/>
              </a:rPr>
              <a:t>企業痛點</a:t>
            </a:r>
            <a:endParaRPr sz="3100" b="0" i="0">
              <a:latin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0" y="4038600"/>
            <a:ext cx="2838450" cy="40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2A261E"/>
                </a:solidFill>
                <a:latin typeface="Noto Sans CJK TC"/>
              </a:rPr>
              <a:t>核心規則(Core Rule)</a:t>
            </a:r>
            <a:endParaRPr sz="2300" b="0" i="0">
              <a:latin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712700" y="4349750"/>
            <a:ext cx="356235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2C2C2C"/>
                </a:solidFill>
                <a:latin typeface="Noto Sans CJK TC"/>
              </a:rPr>
              <a:t>語義相似性≠事實正確性。</a:t>
            </a:r>
            <a:endParaRPr sz="2100" b="0" i="0">
              <a:latin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2650" y="4425950"/>
            <a:ext cx="38354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494949"/>
                </a:solidFill>
                <a:latin typeface="Noto Sans CJK TC"/>
              </a:rPr>
              <a:t>企業入數萬份文件，系統卻</a:t>
            </a:r>
            <a:endParaRPr sz="2300" b="0" i="0">
              <a:latin typeface="Noto Sans CJK T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6300" y="4902200"/>
            <a:ext cx="3759200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4A4A4A"/>
                </a:solidFill>
                <a:latin typeface="Noto Sans CJK TC"/>
              </a:rPr>
              <a:t>頻繁引用2023年的舊合約來</a:t>
            </a:r>
            <a:endParaRPr sz="2300" b="0" i="0">
              <a:latin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34700" y="4965700"/>
            <a:ext cx="13716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A35152"/>
                </a:solidFill>
                <a:latin typeface="Noto Sans CJK TC"/>
              </a:rPr>
              <a:t>切片演算法/</a:t>
            </a:r>
            <a:endParaRPr sz="1800" b="0" i="0">
              <a:latin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731750" y="5054600"/>
            <a:ext cx="38481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4A4A4A"/>
                </a:solidFill>
                <a:latin typeface="Noto Sans CJK TC"/>
              </a:rPr>
              <a:t>向量空間的鄰近性僅代表詞彙</a:t>
            </a:r>
            <a:endParaRPr sz="2100" b="0" i="0">
              <a:latin typeface="Noto Sans CJK T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80700" y="5321300"/>
            <a:ext cx="1676400" cy="23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56595C"/>
                </a:solidFill>
                <a:latin typeface="DejaVu Sans"/>
              </a:rPr>
              <a:t>Chunking Algorithm</a:t>
            </a:r>
            <a:endParaRPr sz="1200" b="0" i="0">
              <a:latin typeface="DejaVu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9950" y="5346700"/>
            <a:ext cx="3422650" cy="38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464646"/>
                </a:solidFill>
                <a:latin typeface="Noto Sans CJK TC"/>
              </a:rPr>
              <a:t>回答2026年的決策問题。</a:t>
            </a:r>
            <a:endParaRPr sz="2200" b="0" i="0">
              <a:latin typeface="Noto Sans CJK T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731750" y="5518150"/>
            <a:ext cx="384810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353535"/>
                </a:solidFill>
                <a:latin typeface="Noto Sans CJK TC"/>
              </a:rPr>
              <a:t>分佈的接近，完全無視邏輯真</a:t>
            </a:r>
            <a:endParaRPr sz="2100" b="0" i="0">
              <a:latin typeface="Noto Sans CJK T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738100" y="5988050"/>
            <a:ext cx="26289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2C2C2C"/>
                </a:solidFill>
                <a:latin typeface="Noto Sans CJK TC"/>
              </a:rPr>
              <a:t>實性與版本有效性。</a:t>
            </a:r>
            <a:endParaRPr sz="2100" b="0" i="0">
              <a:latin typeface="Noto Sans CJK T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744450" y="6800850"/>
            <a:ext cx="3848100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404040"/>
                </a:solidFill>
                <a:latin typeface="Noto Sans CJK TC"/>
              </a:rPr>
              <a:t>單純的切片策略會導致準確度</a:t>
            </a:r>
            <a:endParaRPr sz="2100" b="0" i="0">
              <a:latin typeface="Noto Sans CJK T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36000" y="6915150"/>
            <a:ext cx="12319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2E2B24"/>
                </a:solidFill>
                <a:latin typeface="Noto Sans CJK TC"/>
              </a:rPr>
              <a:t>例外條款</a:t>
            </a:r>
            <a:endParaRPr sz="2200" b="0" i="0">
              <a:latin typeface="Noto Sans CJK T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731750" y="7258050"/>
            <a:ext cx="214630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2D2D2D"/>
                </a:solidFill>
                <a:latin typeface="Noto Sans CJK TC"/>
              </a:rPr>
              <a:t>下降超過60%。</a:t>
            </a:r>
            <a:endParaRPr sz="2200" b="0" i="0">
              <a:latin typeface="Noto Sans CJK T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56550" y="7315200"/>
            <a:ext cx="26035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27221A"/>
                </a:solidFill>
                <a:latin typeface="DejaVu Sans"/>
              </a:rPr>
              <a:t>(Exception Clause)</a:t>
            </a:r>
            <a:endParaRPr sz="2000" b="0" i="0">
              <a:latin typeface="DejaVu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287750" y="9474200"/>
            <a:ext cx="107315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484D52"/>
                </a:solidFill>
                <a:latin typeface="DejaVu Sans"/>
              </a:rPr>
              <a:t>NotebookLM</a:t>
            </a:r>
            <a:endParaRPr sz="1300" b="1" i="0">
              <a:latin typeface="DejaVu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5200" y="742950"/>
            <a:ext cx="12890500" cy="857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700" b="1" i="0">
                <a:solidFill>
                  <a:srgbClr val="070707"/>
                </a:solidFill>
                <a:latin typeface="Noto Sans CJK TC"/>
              </a:rPr>
              <a:t>向量資料庫依然是處理千萬級數據的極速堡壘</a:t>
            </a:r>
            <a:endParaRPr sz="4700" b="1" i="0">
              <a:latin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76850" y="2019300"/>
            <a:ext cx="1479550" cy="501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222223"/>
                </a:solidFill>
                <a:latin typeface="Noto Sans CJK TC"/>
              </a:rPr>
              <a:t>核心優勢</a:t>
            </a:r>
            <a:endParaRPr sz="2700" b="0" i="0">
              <a:latin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15700" y="2019300"/>
            <a:ext cx="213360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1E1E1E"/>
                </a:solidFill>
                <a:latin typeface="Noto Sans CJK TC"/>
              </a:rPr>
              <a:t>最佳應用場景</a:t>
            </a:r>
            <a:endParaRPr sz="2600" b="0" i="0">
              <a:latin typeface="Noto Sans CJK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9500" y="2025650"/>
            <a:ext cx="149225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1B1B1B"/>
                </a:solidFill>
                <a:latin typeface="Noto Sans CJK TC"/>
              </a:rPr>
              <a:t>解决方案</a:t>
            </a:r>
            <a:endParaRPr sz="2700" b="0" i="0">
              <a:latin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95900" y="2838450"/>
            <a:ext cx="4660900" cy="488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43434"/>
                </a:solidFill>
                <a:latin typeface="Noto Sans CJK TC"/>
              </a:rPr>
              <a:t>大規模RAG（穩定性舆擴展性）</a:t>
            </a:r>
            <a:endParaRPr sz="2500" b="0" i="0">
              <a:latin typeface="Noto Sans CJK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28400" y="2863850"/>
            <a:ext cx="2463800" cy="463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363636"/>
                </a:solidFill>
                <a:latin typeface="Noto Sans CJK TC"/>
              </a:rPr>
              <a:t>企業級生產環境</a:t>
            </a:r>
            <a:endParaRPr sz="2600" b="0" i="0">
              <a:latin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92300" y="2908300"/>
            <a:ext cx="156845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282828"/>
                </a:solidFill>
                <a:latin typeface="DejaVu Sans"/>
              </a:rPr>
              <a:t>Pinecone</a:t>
            </a:r>
            <a:endParaRPr sz="2600" b="0" i="0">
              <a:latin typeface="DejaVu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334750" y="3727450"/>
            <a:ext cx="2457450" cy="450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53636"/>
                </a:solidFill>
                <a:latin typeface="Noto Sans CJK TC"/>
              </a:rPr>
              <a:t>合規性嚴格環境</a:t>
            </a:r>
            <a:endParaRPr sz="2500" b="0" i="0">
              <a:latin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08600" y="3740150"/>
            <a:ext cx="409575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363737"/>
                </a:solidFill>
                <a:latin typeface="Noto Sans CJK TC"/>
              </a:rPr>
              <a:t>混合搜尋精度(詞法+語義)</a:t>
            </a:r>
            <a:endParaRPr sz="2700" b="0" i="0">
              <a:latin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92300" y="3759200"/>
            <a:ext cx="2044700" cy="463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292A2A"/>
                </a:solidFill>
                <a:latin typeface="DejaVu Sans"/>
              </a:rPr>
              <a:t>OpenSearch</a:t>
            </a:r>
            <a:endParaRPr sz="2500" b="0" i="0">
              <a:latin typeface="DejaVu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14950" y="4603750"/>
            <a:ext cx="2768600" cy="412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33333"/>
                </a:solidFill>
                <a:latin typeface="Noto Sans CJK TC"/>
              </a:rPr>
              <a:t>現有資料庫集成度</a:t>
            </a:r>
            <a:endParaRPr sz="2500" b="0" i="0">
              <a:latin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41100" y="4616450"/>
            <a:ext cx="3105150" cy="412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A3A3A"/>
                </a:solidFill>
                <a:latin typeface="Noto Sans CJK TC"/>
              </a:rPr>
              <a:t>中小團隊與輕量開發</a:t>
            </a:r>
            <a:endParaRPr sz="2500" b="0" i="0">
              <a:latin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98650" y="4648200"/>
            <a:ext cx="154940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272928"/>
                </a:solidFill>
                <a:latin typeface="DejaVu Sans"/>
              </a:rPr>
              <a:t>PGVector</a:t>
            </a:r>
            <a:endParaRPr sz="2500" b="0" i="0">
              <a:latin typeface="DejaVu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66900" y="5448300"/>
            <a:ext cx="1003300" cy="463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282929"/>
                </a:solidFill>
                <a:latin typeface="DejaVu Sans"/>
              </a:rPr>
              <a:t>Redis</a:t>
            </a:r>
            <a:endParaRPr sz="2700" b="0" i="0">
              <a:latin typeface="DejaVu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341100" y="5461000"/>
            <a:ext cx="309880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C3C3C"/>
                </a:solidFill>
                <a:latin typeface="Noto Sans CJK TC"/>
              </a:rPr>
              <a:t>實時應用與語義緩存</a:t>
            </a:r>
            <a:endParaRPr sz="2500" b="0" i="0">
              <a:latin typeface="Noto Sans CJK T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08600" y="5467350"/>
            <a:ext cx="44005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53535"/>
                </a:solidFill>
                <a:latin typeface="Noto Sans CJK TC"/>
              </a:rPr>
              <a:t>極低延遲與內存運算（TTFT)</a:t>
            </a:r>
            <a:endParaRPr sz="2500" b="0" i="0">
              <a:latin typeface="Noto Sans CJK T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28400" y="6318250"/>
            <a:ext cx="311785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B3B3B"/>
                </a:solidFill>
                <a:latin typeface="Noto Sans CJK TC"/>
              </a:rPr>
              <a:t>邊緣運算與原型設計</a:t>
            </a:r>
            <a:endParaRPr sz="2500" b="0" i="0">
              <a:latin typeface="Noto Sans CJK T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79600" y="6324600"/>
            <a:ext cx="151130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262626"/>
                </a:solidFill>
                <a:latin typeface="DejaVu Sans"/>
              </a:rPr>
              <a:t>LanceDB</a:t>
            </a:r>
            <a:endParaRPr sz="2500" b="0" i="0">
              <a:latin typeface="DejaVu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21300" y="6330950"/>
            <a:ext cx="241300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83838"/>
                </a:solidFill>
                <a:latin typeface="Noto Sans CJK TC"/>
              </a:rPr>
              <a:t>本地優先靈活性</a:t>
            </a:r>
            <a:endParaRPr sz="2500" b="0" i="0">
              <a:latin typeface="Noto Sans CJK T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48750" y="7435850"/>
            <a:ext cx="5600700" cy="450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000" b="0" i="0">
                <a:solidFill>
                  <a:srgbClr val="18110C"/>
                </a:solidFill>
                <a:latin typeface="Noto Sans CJK TC"/>
              </a:rPr>
              <a:t>結構性致命傷（TheFatal Flaw)</a:t>
            </a:r>
            <a:endParaRPr sz="3000" b="0" i="0">
              <a:latin typeface="Noto Sans CJK T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48750" y="8089900"/>
            <a:ext cx="744855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413E37"/>
                </a:solidFill>
                <a:latin typeface="Noto Sans CJK TC"/>
              </a:rPr>
              <a:t>索引延遲與上下文混淆。尋找「增加預算」時，系統常</a:t>
            </a:r>
            <a:endParaRPr sz="2200" b="0" i="0">
              <a:latin typeface="Noto Sans CJK T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055100" y="8477250"/>
            <a:ext cx="5219700" cy="38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413D37"/>
                </a:solidFill>
                <a:latin typeface="Noto Sans CJK TC"/>
              </a:rPr>
              <a:t>因語義模糊撈出「削減開支」的片段。</a:t>
            </a:r>
            <a:endParaRPr sz="2200" b="0" i="0">
              <a:latin typeface="Noto Sans CJK T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332200" y="9474200"/>
            <a:ext cx="102870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4C4F4F"/>
                </a:solidFill>
                <a:latin typeface="DejaVu Sans"/>
              </a:rPr>
              <a:t>NotebookLM</a:t>
            </a:r>
            <a:endParaRPr sz="1200" b="1" i="0">
              <a:latin typeface="DejaVu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2650" y="685800"/>
            <a:ext cx="15144750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400" b="1" i="0">
                <a:solidFill>
                  <a:srgbClr val="070707"/>
                </a:solidFill>
                <a:latin typeface="Noto Sans CJK TC"/>
              </a:rPr>
              <a:t>從「靜態圖書管理員」進化為「主動探索的虛擬研究員」</a:t>
            </a:r>
            <a:endParaRPr sz="4400" b="1" i="0">
              <a:latin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43500" y="6737350"/>
            <a:ext cx="3556000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101213"/>
                </a:solidFill>
                <a:latin typeface="Noto Sans CJK TC"/>
              </a:rPr>
              <a:t>RAG 1.0 (2023-2025)</a:t>
            </a:r>
            <a:endParaRPr sz="2800" b="0" i="0">
              <a:latin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04550" y="6775450"/>
            <a:ext cx="257175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0F1213"/>
                </a:solidFill>
                <a:latin typeface="Noto Sans CJK TC"/>
              </a:rPr>
              <a:t>RAG 2.0 (2026)</a:t>
            </a:r>
            <a:endParaRPr sz="2800" b="0" i="0">
              <a:latin typeface="Noto Sans CJK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55350" y="7340600"/>
            <a:ext cx="444500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323436"/>
                </a:solidFill>
                <a:latin typeface="Noto Sans CJK TC"/>
              </a:rPr>
              <a:t>·驅動力：代理推理 (Reasoning)</a:t>
            </a:r>
            <a:endParaRPr sz="2300" b="0" i="0">
              <a:latin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32400" y="7378700"/>
            <a:ext cx="2914650" cy="349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3B3C3D"/>
                </a:solidFill>
                <a:latin typeface="Noto Sans CJK TC"/>
              </a:rPr>
              <a:t>•驅動力：向量相似度</a:t>
            </a:r>
            <a:endParaRPr sz="2300" b="0" i="0">
              <a:latin typeface="Noto Sans CJK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80750" y="7766050"/>
            <a:ext cx="521970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93B3E"/>
                </a:solidFill>
                <a:latin typeface="Noto Sans CJK TC"/>
              </a:rPr>
              <a:t>• 工作流：規劃→探索→验證→修正</a:t>
            </a:r>
            <a:endParaRPr sz="2500" b="0" i="0">
              <a:latin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38750" y="7772400"/>
            <a:ext cx="381635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323436"/>
                </a:solidFill>
                <a:latin typeface="Noto Sans CJK TC"/>
              </a:rPr>
              <a:t>• 工作流：一次性檢索與生成</a:t>
            </a:r>
            <a:endParaRPr sz="2200" b="0" i="0">
              <a:latin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19700" y="8185150"/>
            <a:ext cx="4318000" cy="412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303234"/>
                </a:solidFill>
                <a:latin typeface="Noto Sans CJK TC"/>
              </a:rPr>
              <a:t>•理解單位：文本切片(Chunks)</a:t>
            </a:r>
            <a:endParaRPr sz="2300" b="0" i="0">
              <a:latin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3450" y="819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36383A"/>
                </a:solidFill>
                <a:latin typeface="Noto Sans CJK TC"/>
              </a:rPr>
              <a:t>• 理解單位：文檔結構與層級</a:t>
            </a:r>
            <a:endParaRPr sz="2200" b="0" i="0">
              <a:latin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51450" y="8604250"/>
            <a:ext cx="3181350" cy="412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323537"/>
                </a:solidFill>
                <a:latin typeface="Noto Sans CJK TC"/>
              </a:rPr>
              <a:t>•指標：召回率(Recall)</a:t>
            </a:r>
            <a:endParaRPr sz="2400" b="0" i="0">
              <a:latin typeface="Noto Sans CJK T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31550" y="8604250"/>
            <a:ext cx="49911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313437"/>
                </a:solidFill>
                <a:latin typeface="Noto Sans CJK TC"/>
              </a:rPr>
              <a:t>·指標：信息增益(InformationGain）</a:t>
            </a:r>
            <a:endParaRPr sz="2200" b="0" i="0">
              <a:latin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109950" y="9474200"/>
            <a:ext cx="125095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4B4F54"/>
                </a:solidFill>
                <a:latin typeface="DejaVu Sans"/>
              </a:rPr>
              <a:t>NotebookLM</a:t>
            </a:r>
            <a:endParaRPr sz="1500" b="1" i="0">
              <a:latin typeface="DejaVu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9950" y="819150"/>
            <a:ext cx="15379700" cy="857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060607"/>
                </a:solidFill>
                <a:latin typeface="Noto Sans CJK TC"/>
              </a:rPr>
              <a:t>代理檢索徹底放棄向量坐標，改以結構與邏輯導航</a:t>
            </a:r>
            <a:endParaRPr sz="4800" b="1" i="0">
              <a:latin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54950" y="3143250"/>
            <a:ext cx="107950" cy="82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F2EED3"/>
                </a:solidFill>
                <a:latin typeface="DejaVu Sans"/>
              </a:rPr>
              <a:t>□</a:t>
            </a:r>
            <a:endParaRPr sz="700" b="1" i="0">
              <a:latin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147800" y="3390900"/>
            <a:ext cx="1111250" cy="787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A9A8A6"/>
                </a:solidFill>
                <a:latin typeface="DejaVu Sans"/>
              </a:rPr>
              <a:t>2024-05-20</a:t>
            </a:r>
            <a:endParaRPr sz="1300" b="0" i="0">
              <a:latin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40050" y="3397250"/>
            <a:ext cx="53975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6C655C"/>
                </a:solidFill>
                <a:latin typeface="Noto Sans CJK TC"/>
              </a:rPr>
              <a:t>目</a:t>
            </a:r>
            <a:endParaRPr sz="2600" b="0" i="0">
              <a:latin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76550" y="3657600"/>
            <a:ext cx="679450" cy="355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585248"/>
                </a:solidFill>
                <a:latin typeface="Noto Sans CJK TC"/>
              </a:rPr>
              <a:t>(TOC)</a:t>
            </a:r>
            <a:endParaRPr sz="1900" b="0" i="0">
              <a:latin typeface="Noto Sans CJK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23600" y="4171950"/>
            <a:ext cx="37465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C3C0A8"/>
                </a:solidFill>
                <a:latin typeface="Noto Sans CJK TC"/>
              </a:rPr>
              <a:t>[1]</a:t>
            </a:r>
            <a:endParaRPr sz="2000" b="0" i="0">
              <a:latin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55800" y="6781800"/>
            <a:ext cx="152400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2F2F2F"/>
                </a:solidFill>
                <a:latin typeface="Noto Sans CJK TC"/>
              </a:rPr>
              <a:t>1.讀取目錄</a:t>
            </a:r>
            <a:endParaRPr sz="2300" b="0" i="0">
              <a:latin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62650" y="6794500"/>
            <a:ext cx="153035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28292A"/>
                </a:solidFill>
                <a:latin typeface="Noto Sans CJK TC"/>
              </a:rPr>
              <a:t>2.目標章節</a:t>
            </a:r>
            <a:endParaRPr sz="2300" b="0" i="0">
              <a:latin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538200" y="6794500"/>
            <a:ext cx="2368550" cy="349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2A2B2E"/>
                </a:solidFill>
                <a:latin typeface="Noto Sans CJK TC"/>
              </a:rPr>
              <a:t>4.動態調用與核對</a:t>
            </a:r>
            <a:endParaRPr sz="2200" b="0" i="0">
              <a:latin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37750" y="6800850"/>
            <a:ext cx="1536700" cy="355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2B2C2D"/>
                </a:solidFill>
                <a:latin typeface="Noto Sans CJK TC"/>
              </a:rPr>
              <a:t>3.發現腳註</a:t>
            </a:r>
            <a:endParaRPr sz="2300" b="0" i="0">
              <a:latin typeface="Noto Sans CJK T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608050" y="7169150"/>
            <a:ext cx="225425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2C2F33"/>
                </a:solidFill>
                <a:latin typeface="DejaVu Sans"/>
              </a:rPr>
              <a:t>(Dynamic Fetch)</a:t>
            </a:r>
            <a:endParaRPr sz="2000" b="0" i="0">
              <a:latin typeface="DejaVu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49450" y="7175500"/>
            <a:ext cx="154940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2F2F2F"/>
                </a:solidFill>
                <a:latin typeface="Noto Sans CJK TC"/>
              </a:rPr>
              <a:t>(Read TOC)</a:t>
            </a:r>
            <a:endParaRPr sz="2200" b="0" i="0">
              <a:latin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19750" y="7188200"/>
            <a:ext cx="222885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313234"/>
                </a:solidFill>
                <a:latin typeface="DejaVu Sans"/>
              </a:rPr>
              <a:t>(Target Chapter)</a:t>
            </a:r>
            <a:endParaRPr sz="2000" b="0" i="0">
              <a:latin typeface="DejaVu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39300" y="7188200"/>
            <a:ext cx="215265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2D2F32"/>
                </a:solidFill>
                <a:latin typeface="DejaVu Sans"/>
              </a:rPr>
              <a:t>(Spot Footnote)</a:t>
            </a:r>
            <a:endParaRPr sz="2000" b="0" i="0">
              <a:latin typeface="DejaVu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0" y="8267700"/>
            <a:ext cx="430530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B89E52"/>
                </a:solidFill>
                <a:latin typeface="Noto Sans CJK TC"/>
              </a:rPr>
              <a:t>關键突破：零延遲知識更新</a:t>
            </a:r>
            <a:endParaRPr sz="2600" b="0" i="0">
              <a:latin typeface="Noto Sans CJK T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23950" y="8743950"/>
            <a:ext cx="149796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434446"/>
                </a:solidFill>
                <a:latin typeface="Noto Sans CJK TC"/>
              </a:rPr>
              <a:t>無需耗時的Embedding與重新索引，檔案存入系統瞬間即可被Agent透過目錄與元數據 (doc_id，sec_id)讀取與推理。</a:t>
            </a:r>
            <a:endParaRPr sz="2100" b="0" i="0">
              <a:latin typeface="Noto Sans CJK T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103600" y="9467850"/>
            <a:ext cx="126365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4A4E53"/>
                </a:solidFill>
                <a:latin typeface="DejaVu Sans"/>
              </a:rPr>
              <a:t>NotebookLM</a:t>
            </a:r>
            <a:endParaRPr sz="1500" b="1" i="0">
              <a:latin typeface="DejaVu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8850" y="781050"/>
            <a:ext cx="15436850" cy="876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700" b="1" i="0">
                <a:solidFill>
                  <a:srgbClr val="060707"/>
                </a:solidFill>
                <a:latin typeface="Noto Sans CJK TC"/>
              </a:rPr>
              <a:t>向量範式與代理範式的量化博弈揭示了顯著的性能權衡</a:t>
            </a:r>
            <a:endParaRPr sz="4700" b="1" i="0">
              <a:latin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70350" y="2311400"/>
            <a:ext cx="1117600" cy="38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464646"/>
                </a:solidFill>
                <a:latin typeface="Noto Sans CJK TC"/>
              </a:rPr>
              <a:t>處理規模</a:t>
            </a:r>
            <a:endParaRPr sz="2000" b="0" i="0">
              <a:latin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652250" y="2438400"/>
            <a:ext cx="13208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252627"/>
                </a:solidFill>
                <a:latin typeface="Noto Sans CJK TC"/>
              </a:rPr>
              <a:t>向量檢索</a:t>
            </a:r>
            <a:endParaRPr sz="2400" b="0" i="0">
              <a:latin typeface="Noto Sans CJK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541500" y="2438400"/>
            <a:ext cx="133350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1E1F21"/>
                </a:solidFill>
                <a:latin typeface="Noto Sans CJK TC"/>
              </a:rPr>
              <a:t>代理檢索</a:t>
            </a:r>
            <a:endParaRPr sz="2400" b="0" i="0">
              <a:latin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52900" y="2635250"/>
            <a:ext cx="9525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3A3C3B"/>
                </a:solidFill>
                <a:latin typeface="Noto Sans CJK TC"/>
              </a:rPr>
              <a:t>(Scale)</a:t>
            </a:r>
            <a:endParaRPr sz="2200" b="0" i="0">
              <a:latin typeface="Noto Sans CJK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220200" y="2654300"/>
            <a:ext cx="131445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1F2020"/>
                </a:solidFill>
                <a:latin typeface="Noto Sans CJK TC"/>
              </a:rPr>
              <a:t>評估维度</a:t>
            </a:r>
            <a:endParaRPr sz="2400" b="0" i="0">
              <a:latin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52250" y="2844800"/>
            <a:ext cx="1308100" cy="469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141719"/>
                </a:solidFill>
                <a:latin typeface="Noto Sans CJK TC"/>
              </a:rPr>
              <a:t>(Vector)</a:t>
            </a:r>
            <a:endParaRPr sz="2600" b="0" i="0">
              <a:latin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497050" y="2857500"/>
            <a:ext cx="144145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151719"/>
                </a:solidFill>
                <a:latin typeface="Noto Sans CJK TC"/>
              </a:rPr>
              <a:t>(Agentic)</a:t>
            </a:r>
            <a:endParaRPr sz="2500" b="0" i="0">
              <a:latin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20200" y="3727450"/>
            <a:ext cx="13081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242525"/>
                </a:solidFill>
                <a:latin typeface="Noto Sans CJK TC"/>
              </a:rPr>
              <a:t>資料類型</a:t>
            </a:r>
            <a:endParaRPr sz="2400" b="0" i="0">
              <a:latin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68050" y="3746500"/>
            <a:ext cx="2508250" cy="38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353639"/>
                </a:solidFill>
                <a:latin typeface="Noto Sans CJK TC"/>
              </a:rPr>
              <a:t>巨量非結構化散文</a:t>
            </a:r>
            <a:endParaRPr sz="2300" b="0" i="0">
              <a:latin typeface="Noto Sans CJK T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039850" y="3746500"/>
            <a:ext cx="233045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343639"/>
                </a:solidFill>
                <a:latin typeface="Noto Sans CJK TC"/>
              </a:rPr>
              <a:t>結構化合約/報表</a:t>
            </a:r>
            <a:endParaRPr sz="2300" b="0" i="0">
              <a:latin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547850" y="4552950"/>
            <a:ext cx="13208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3A3C3E"/>
                </a:solidFill>
                <a:latin typeface="Noto Sans CJK TC"/>
              </a:rPr>
              <a:t>極致邏輯</a:t>
            </a:r>
            <a:endParaRPr sz="2400" b="0" i="0">
              <a:latin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32900" y="4756150"/>
            <a:ext cx="12954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252627"/>
                </a:solidFill>
                <a:latin typeface="Noto Sans CJK TC"/>
              </a:rPr>
              <a:t>核心優勢</a:t>
            </a:r>
            <a:endParaRPr sz="2300" b="0" i="0">
              <a:latin typeface="Noto Sans CJK T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14100" y="4768850"/>
            <a:ext cx="219075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3C3D3F"/>
                </a:solidFill>
                <a:latin typeface="Noto Sans CJK TC"/>
              </a:rPr>
              <a:t>秒級響應與規模</a:t>
            </a:r>
            <a:endParaRPr sz="2300" b="0" i="0">
              <a:latin typeface="Noto Sans CJK T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338300" y="4965700"/>
            <a:ext cx="173990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434549"/>
                </a:solidFill>
                <a:latin typeface="Noto Sans CJK TC"/>
              </a:rPr>
              <a:t>(+18%準確)</a:t>
            </a:r>
            <a:endParaRPr sz="2400" b="0" i="0">
              <a:latin typeface="Noto Sans CJK T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19950" y="5238750"/>
            <a:ext cx="1123950" cy="38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4D4E4F"/>
                </a:solidFill>
                <a:latin typeface="Noto Sans CJK TC"/>
              </a:rPr>
              <a:t>警應速度</a:t>
            </a:r>
            <a:endParaRPr sz="2000" b="0" i="0">
              <a:latin typeface="Noto Sans CJK T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4850" y="5251450"/>
            <a:ext cx="1365250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454545"/>
                </a:solidFill>
                <a:latin typeface="Noto Sans CJK TC"/>
              </a:rPr>
              <a:t>事實準確度</a:t>
            </a:r>
            <a:endParaRPr sz="2000" b="0" i="0">
              <a:latin typeface="Noto Sans CJK T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58050" y="5575300"/>
            <a:ext cx="1035050" cy="412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383B3A"/>
                </a:solidFill>
                <a:latin typeface="Noto Sans CJK TC"/>
              </a:rPr>
              <a:t>(Speed)</a:t>
            </a:r>
            <a:endParaRPr sz="2100" b="0" i="0">
              <a:latin typeface="Noto Sans CJK T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262100" y="5581650"/>
            <a:ext cx="189865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333538"/>
                </a:solidFill>
                <a:latin typeface="Noto Sans CJK TC"/>
              </a:rPr>
              <a:t>首字延遲平均</a:t>
            </a:r>
            <a:endParaRPr sz="2300" b="0" i="0">
              <a:latin typeface="Noto Sans CJK T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7550" y="5600700"/>
            <a:ext cx="135255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383838"/>
                </a:solidFill>
                <a:latin typeface="DejaVu Sans"/>
              </a:rPr>
              <a:t>(Accuracy)</a:t>
            </a:r>
            <a:endParaRPr sz="1900" b="0" i="0">
              <a:latin typeface="DejaVu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20200" y="5778500"/>
            <a:ext cx="1320800" cy="40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212324"/>
                </a:solidFill>
                <a:latin typeface="Noto Sans CJK TC"/>
              </a:rPr>
              <a:t>延遅代價</a:t>
            </a:r>
            <a:endParaRPr sz="2400" b="0" i="0">
              <a:latin typeface="Noto Sans CJK T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512550" y="5784850"/>
            <a:ext cx="1606550" cy="40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38393B"/>
                </a:solidFill>
                <a:latin typeface="Noto Sans CJK TC"/>
              </a:rPr>
              <a:t>幾乎無延遲</a:t>
            </a:r>
            <a:endParaRPr sz="2300" b="0" i="0">
              <a:latin typeface="Noto Sans CJK T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427200" y="5981700"/>
            <a:ext cx="1581150" cy="40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4E5B70"/>
                </a:solidFill>
                <a:latin typeface="Noto Sans CJK TC"/>
              </a:rPr>
              <a:t>高出3.81s</a:t>
            </a:r>
            <a:endParaRPr sz="2600" b="0" i="0">
              <a:latin typeface="Noto Sans CJK T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6850" y="6807200"/>
            <a:ext cx="159385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1A1B1C"/>
                </a:solidFill>
                <a:latin typeface="Noto Sans CJK TC"/>
              </a:rPr>
              <a:t>典型準確率</a:t>
            </a:r>
            <a:endParaRPr sz="2300" b="0" i="0">
              <a:latin typeface="Noto Sans CJK T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325600" y="6819900"/>
            <a:ext cx="1739900" cy="355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2F3136"/>
                </a:solidFill>
                <a:latin typeface="Noto Sans CJK TC"/>
              </a:rPr>
              <a:t>85%-95%+</a:t>
            </a:r>
            <a:endParaRPr sz="2600" b="0" i="0">
              <a:latin typeface="Noto Sans CJK T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525250" y="6826250"/>
            <a:ext cx="1574800" cy="355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313538"/>
                </a:solidFill>
                <a:latin typeface="Noto Sans CJK TC"/>
              </a:rPr>
              <a:t>60%-80%</a:t>
            </a:r>
            <a:endParaRPr sz="2600" b="0" i="0">
              <a:latin typeface="Noto Sans CJK T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048750" y="7861300"/>
            <a:ext cx="7569200" cy="469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101113"/>
                </a:solidFill>
                <a:latin typeface="Noto Sans CJK TC"/>
              </a:rPr>
              <a:t>當查詢涉及超過5個實體或需要多步推理時，</a:t>
            </a:r>
            <a:endParaRPr sz="2800" b="0" i="0">
              <a:latin typeface="Noto Sans CJK T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044950" y="8172450"/>
            <a:ext cx="114935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424242"/>
                </a:solidFill>
                <a:latin typeface="Noto Sans CJK TC"/>
              </a:rPr>
              <a:t>輯深度</a:t>
            </a:r>
            <a:endParaRPr sz="2800" b="0" i="0">
              <a:latin typeface="Noto Sans CJK T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017000" y="8356600"/>
            <a:ext cx="725805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161718"/>
                </a:solidFill>
                <a:latin typeface="Noto Sans CJK TC"/>
              </a:rPr>
              <a:t>向量準確率迅速歸零，代理檢索維持穩定。</a:t>
            </a:r>
            <a:endParaRPr sz="2800" b="0" i="0">
              <a:latin typeface="Noto Sans CJK TC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114800" y="8534400"/>
            <a:ext cx="1016000" cy="412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343738"/>
                </a:solidFill>
                <a:latin typeface="Noto Sans CJK TC"/>
              </a:rPr>
              <a:t>(Depth)</a:t>
            </a:r>
            <a:endParaRPr sz="2100" b="0" i="0">
              <a:latin typeface="Noto Sans CJK T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6090900" y="9455150"/>
            <a:ext cx="1276350" cy="19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4B4F53"/>
                </a:solidFill>
                <a:latin typeface="DejaVu Sans"/>
              </a:rPr>
              <a:t>NotebookLM</a:t>
            </a:r>
            <a:endParaRPr sz="1500" b="1" i="0">
              <a:latin typeface="DejaVu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300" y="831850"/>
            <a:ext cx="14960600" cy="787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10161F"/>
                </a:solidFill>
                <a:latin typeface="Noto Sans CJK TC"/>
              </a:rPr>
              <a:t>2026企業標準：結合兩者優勢的「多層次混合架構」</a:t>
            </a:r>
            <a:endParaRPr sz="4800" b="1" i="0">
              <a:latin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20450" y="3314700"/>
            <a:ext cx="4311650" cy="336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40677E"/>
                </a:solidFill>
                <a:latin typeface="Noto Sans CJK TC"/>
              </a:rPr>
              <a:t>第一層：向量粗筛(Coarse Filter)</a:t>
            </a:r>
            <a:endParaRPr sz="2200" b="0" i="0">
              <a:latin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4451350"/>
            <a:ext cx="2070100" cy="296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ADA389"/>
                </a:solidFill>
                <a:latin typeface="Noto Sans CJK TC"/>
              </a:rPr>
              <a:t>具</a:t>
            </a:r>
            <a:endParaRPr sz="4800" b="1" i="0">
              <a:latin typeface="Noto Sans CJK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0" y="4718050"/>
            <a:ext cx="3390900" cy="349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353A41"/>
                </a:solidFill>
                <a:latin typeface="Noto Sans CJK TC"/>
              </a:rPr>
              <a:t>縮小至50-100份候選文檔</a:t>
            </a:r>
            <a:endParaRPr sz="2200" b="0" i="0">
              <a:latin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87000" y="6007100"/>
            <a:ext cx="40513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9B855B"/>
                </a:solidFill>
                <a:latin typeface="Noto Sans CJK TC"/>
              </a:rPr>
              <a:t>第二層：代理精讀（Deep Read）</a:t>
            </a:r>
            <a:endParaRPr sz="2000" b="0" i="0">
              <a:latin typeface="Noto Sans CJK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93350" y="7518400"/>
            <a:ext cx="484505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42675D"/>
                </a:solidFill>
                <a:latin typeface="Noto Sans CJK TC"/>
              </a:rPr>
              <a:t>1個經過驗證的唯一真相(99%準確率)</a:t>
            </a:r>
            <a:endParaRPr sz="2200" b="0" i="0">
              <a:latin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22500" y="8509000"/>
            <a:ext cx="13061950" cy="641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200" b="1" i="0">
                <a:solidFill>
                  <a:srgbClr val="161A21"/>
                </a:solidFill>
                <a:latin typeface="Noto Sans CJK TC"/>
              </a:rPr>
              <a:t>「向量檢索負責幫你縮小範圍，代理推理負責幫你找到唯一真相。」</a:t>
            </a:r>
            <a:endParaRPr sz="3200" b="1" i="0">
              <a:latin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090900" y="9436100"/>
            <a:ext cx="12827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4E5154"/>
                </a:solidFill>
                <a:latin typeface="DejaVu Sans"/>
              </a:rPr>
              <a:t>NotebookLM</a:t>
            </a:r>
            <a:endParaRPr sz="1500" b="1" i="0">
              <a:latin typeface="DejaVu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28700" y="825500"/>
            <a:ext cx="15392400" cy="800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090A0B"/>
                </a:solidFill>
                <a:latin typeface="Noto Sans CJK TC"/>
              </a:rPr>
              <a:t>第一層防線：混合檢索確保100%的高價值數據召回</a:t>
            </a:r>
            <a:endParaRPr sz="4800" b="1" i="0">
              <a:latin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64250" y="2393950"/>
            <a:ext cx="965200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1F2222"/>
                </a:solidFill>
                <a:latin typeface="Noto Sans CJK TC"/>
              </a:rPr>
              <a:t>BM25</a:t>
            </a:r>
            <a:endParaRPr sz="2800" b="0" i="0">
              <a:latin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5050" y="2406650"/>
            <a:ext cx="3168650" cy="38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5D6D79"/>
                </a:solidFill>
                <a:latin typeface="DejaVu Sans"/>
              </a:rPr>
              <a:t>Vector Embeddings</a:t>
            </a:r>
            <a:endParaRPr sz="2400" b="0" i="0">
              <a:latin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83750" y="2628900"/>
            <a:ext cx="6064250" cy="514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200" b="0" i="0">
                <a:solidFill>
                  <a:srgbClr val="111213"/>
                </a:solidFill>
                <a:latin typeface="Noto Sans CJK TC"/>
              </a:rPr>
              <a:t>單純的向量搜尋容易漏掉精確的</a:t>
            </a:r>
            <a:endParaRPr sz="3200" b="0" i="0">
              <a:latin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45050" y="2743200"/>
            <a:ext cx="3384550" cy="450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2C2E2D"/>
                </a:solidFill>
                <a:latin typeface="Noto Sans CJK TC"/>
              </a:rPr>
              <a:t>(精確關鍵字/稀疏信號)</a:t>
            </a:r>
            <a:endParaRPr sz="2500" b="0" i="0">
              <a:latin typeface="Noto Sans CJK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2450" y="2749550"/>
            <a:ext cx="1619250" cy="450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6A7A87"/>
                </a:solidFill>
                <a:latin typeface="Noto Sans CJK TC"/>
              </a:rPr>
              <a:t>(語義氛圍)</a:t>
            </a:r>
            <a:endParaRPr sz="2500" b="0" i="0">
              <a:latin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71050" y="3187700"/>
            <a:ext cx="5124450" cy="539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200" b="0" i="0">
                <a:solidFill>
                  <a:srgbClr val="0F1111"/>
                </a:solidFill>
                <a:latin typeface="Noto Sans CJK TC"/>
              </a:rPr>
              <a:t>ID、產品代碼或特定術語。</a:t>
            </a:r>
            <a:endParaRPr sz="3200" b="0" i="0">
              <a:latin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64700" y="4724400"/>
            <a:ext cx="6629400" cy="539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400" b="0" i="0">
                <a:solidFill>
                  <a:srgbClr val="0D0F10"/>
                </a:solidFill>
                <a:latin typeface="Noto Sans CJK TC"/>
              </a:rPr>
              <a:t>透過結合Vector與BM25，系統能</a:t>
            </a:r>
            <a:endParaRPr sz="3400" b="0" i="0">
              <a:latin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58350" y="5270500"/>
            <a:ext cx="686435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100" b="0" i="0">
                <a:solidFill>
                  <a:srgbClr val="0F1012"/>
                </a:solidFill>
                <a:latin typeface="Noto Sans CJK TC"/>
              </a:rPr>
              <a:t>在百萬級文件中快速鎖定候選範圍，</a:t>
            </a:r>
            <a:endParaRPr sz="3100" b="0" i="0">
              <a:latin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58350" y="5854700"/>
            <a:ext cx="694055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300" b="0" i="0">
                <a:solidFill>
                  <a:srgbClr val="0E0F11"/>
                </a:solidFill>
                <a:latin typeface="Noto Sans CJK TC"/>
              </a:rPr>
              <a:t>並将召回率(Recall)顯著提升20%到</a:t>
            </a:r>
            <a:endParaRPr sz="3300" b="0" i="0">
              <a:latin typeface="Noto Sans CJK T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32950" y="6426200"/>
            <a:ext cx="7029450" cy="596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300" b="0" i="0">
                <a:solidFill>
                  <a:srgbClr val="0D0F11"/>
                </a:solidFill>
                <a:latin typeface="Noto Sans CJK TC"/>
              </a:rPr>
              <a:t>40%。這確保了Agent在下一階段有</a:t>
            </a:r>
            <a:endParaRPr sz="3300" b="0" i="0">
              <a:latin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83750" y="7042150"/>
            <a:ext cx="509905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100" b="0" i="0">
                <a:solidFill>
                  <a:srgbClr val="0D0D0F"/>
                </a:solidFill>
                <a:latin typeface="Noto Sans CJK TC"/>
              </a:rPr>
              <a:t>足夠的正確材料進行推理。</a:t>
            </a:r>
            <a:endParaRPr sz="3100" b="0" i="0">
              <a:latin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03850" y="7918450"/>
            <a:ext cx="2578100" cy="482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900" b="0" i="0">
                <a:solidFill>
                  <a:srgbClr val="4B626E"/>
                </a:solidFill>
                <a:latin typeface="DejaVu Sans"/>
              </a:rPr>
              <a:t>Hybrid Recall</a:t>
            </a:r>
            <a:endParaRPr sz="2900" b="0" i="0">
              <a:latin typeface="DejaVu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109950" y="9455150"/>
            <a:ext cx="1257300" cy="19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4B4F52"/>
                </a:solidFill>
                <a:latin typeface="DejaVu Sans"/>
              </a:rPr>
              <a:t>NotebookLM</a:t>
            </a:r>
            <a:endParaRPr sz="1500" b="1" i="0">
              <a:latin typeface="DejaVu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3750" y="762000"/>
            <a:ext cx="15881350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100" b="1" i="0">
                <a:solidFill>
                  <a:srgbClr val="080909"/>
                </a:solidFill>
                <a:latin typeface="Noto Sans CJK TC"/>
              </a:rPr>
              <a:t>PingFang TC：第二精讀：代理引擎利用圖譜與邏輯排除語義噪聲</a:t>
            </a:r>
            <a:endParaRPr sz="4100" b="1" i="0">
              <a:latin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27900" y="2171700"/>
            <a:ext cx="2813050" cy="565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900" b="0" i="0">
                <a:solidFill>
                  <a:srgbClr val="0D0E0E"/>
                </a:solidFill>
                <a:latin typeface="DejaVu Sans"/>
              </a:rPr>
              <a:t>Noise Filtering</a:t>
            </a:r>
            <a:endParaRPr sz="2900" b="0" i="0">
              <a:latin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258300" y="2959100"/>
            <a:ext cx="100965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1B1C1B"/>
                </a:solidFill>
                <a:latin typeface="DejaVu Sans"/>
              </a:rPr>
              <a:t>Agent</a:t>
            </a:r>
            <a:endParaRPr sz="2500" b="0" i="0">
              <a:latin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83700" y="3314700"/>
            <a:ext cx="137160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2B2B2B"/>
                </a:solidFill>
                <a:latin typeface="Noto Sans CJK TC"/>
              </a:rPr>
              <a:t>(代理引擎)</a:t>
            </a:r>
            <a:endParaRPr sz="2100" b="0" i="0">
              <a:latin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382500" y="3746500"/>
            <a:ext cx="204470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1D1E1F"/>
                </a:solidFill>
                <a:latin typeface="Noto Sans CJK TC"/>
              </a:rPr>
              <a:t>排除錯誤版本</a:t>
            </a:r>
            <a:endParaRPr sz="2500" b="0" i="0">
              <a:latin typeface="Noto Sans CJK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407900" y="4165600"/>
            <a:ext cx="442595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262728"/>
                </a:solidFill>
                <a:latin typeface="Noto Sans CJK TC"/>
              </a:rPr>
              <a:t>(如：錯將削減預算視為增加預算）</a:t>
            </a:r>
            <a:endParaRPr sz="2100" b="0" i="0">
              <a:latin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31900" y="4699000"/>
            <a:ext cx="3803650" cy="412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191918"/>
                </a:solidFill>
                <a:latin typeface="DejaVu Sans"/>
              </a:rPr>
              <a:t>Tree-organized Retrieval</a:t>
            </a:r>
            <a:endParaRPr sz="2300" b="0" i="0">
              <a:latin typeface="DejaVu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299950" y="4940300"/>
            <a:ext cx="1758950" cy="355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6C777D"/>
                </a:solidFill>
                <a:latin typeface="DejaVu Sans"/>
              </a:rPr>
              <a:t>Noise Node</a:t>
            </a:r>
            <a:endParaRPr sz="2300" b="0" i="0">
              <a:latin typeface="DejaVu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75000" y="5092700"/>
            <a:ext cx="186055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282828"/>
                </a:solidFill>
                <a:latin typeface="Noto Sans CJK TC"/>
              </a:rPr>
              <a:t>分析實體連接</a:t>
            </a:r>
            <a:endParaRPr sz="2200" b="0" i="0">
              <a:latin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299950" y="5295900"/>
            <a:ext cx="22733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2B2E30"/>
                </a:solidFill>
                <a:latin typeface="Noto Sans CJK TC"/>
              </a:rPr>
              <a:t>(Entity: 錯誤預測)</a:t>
            </a:r>
            <a:endParaRPr sz="2100" b="0" i="0">
              <a:latin typeface="Noto Sans CJK T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14050" y="6610350"/>
            <a:ext cx="11303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16181A"/>
                </a:solidFill>
                <a:latin typeface="DejaVu Sans"/>
              </a:rPr>
              <a:t>Node 3</a:t>
            </a:r>
            <a:endParaRPr sz="2300" b="0" i="0">
              <a:latin typeface="DejaVu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49900" y="6616700"/>
            <a:ext cx="113665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161717"/>
                </a:solidFill>
                <a:latin typeface="DejaVu Sans"/>
              </a:rPr>
              <a:t>Node1</a:t>
            </a:r>
            <a:endParaRPr sz="2600" b="0" i="0">
              <a:latin typeface="DejaVu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78800" y="6629400"/>
            <a:ext cx="1136650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171819"/>
                </a:solidFill>
                <a:latin typeface="DejaVu Sans"/>
              </a:rPr>
              <a:t>Node2</a:t>
            </a:r>
            <a:endParaRPr sz="2600" b="0" i="0">
              <a:latin typeface="DejaVu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91100" y="7004050"/>
            <a:ext cx="2279650" cy="349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2E2E2F"/>
                </a:solidFill>
                <a:latin typeface="Noto Sans CJK TC"/>
              </a:rPr>
              <a:t>(Entity:市場趨勢)</a:t>
            </a:r>
            <a:endParaRPr sz="2200" b="0" i="0">
              <a:latin typeface="Noto Sans CJK T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81900" y="7004050"/>
            <a:ext cx="2336800" cy="349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2D2E2E"/>
                </a:solidFill>
                <a:latin typeface="Noto Sans CJK TC"/>
              </a:rPr>
              <a:t>(Entity:财務影響）</a:t>
            </a:r>
            <a:endParaRPr sz="2000" b="0" i="0">
              <a:latin typeface="Noto Sans CJK T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204450" y="7016750"/>
            <a:ext cx="229235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282A2A"/>
                </a:solidFill>
                <a:latin typeface="Noto Sans CJK TC"/>
              </a:rPr>
              <a:t>（Entity：核心结論）</a:t>
            </a:r>
            <a:endParaRPr sz="1700" b="0" i="0">
              <a:latin typeface="Noto Sans CJK T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01850" y="7994650"/>
            <a:ext cx="131445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000" b="0" i="0">
                <a:solidFill>
                  <a:srgbClr val="141516"/>
                </a:solidFill>
                <a:latin typeface="Noto Sans CJK TC"/>
              </a:rPr>
              <a:t>在這層，Agent進行「無向量」的精確閱讀。它分析實體連接與因果關係，</a:t>
            </a:r>
            <a:endParaRPr sz="3000" b="0" i="0">
              <a:latin typeface="Noto Sans CJK T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01900" y="8572500"/>
            <a:ext cx="12363450" cy="58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900" b="0" i="0">
                <a:solidFill>
                  <a:srgbClr val="121314"/>
                </a:solidFill>
                <a:latin typeface="Noto Sans CJK TC"/>
              </a:rPr>
              <a:t>透過交叉驗證排除第一層帶入的錯誤版本，將系統準確度推升至極限。</a:t>
            </a:r>
            <a:endParaRPr sz="2900" b="0" i="0">
              <a:latin typeface="Noto Sans CJK T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084550" y="9436100"/>
            <a:ext cx="12827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4C5053"/>
                </a:solidFill>
                <a:latin typeface="DejaVu Sans"/>
              </a:rPr>
              <a:t>NotebookLM</a:t>
            </a:r>
            <a:endParaRPr sz="1500" b="1" i="0">
              <a:latin typeface="DejaVu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742950"/>
            <a:ext cx="15621000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191D20"/>
                </a:solidFill>
                <a:latin typeface="Noto Sans CJK TC"/>
              </a:rPr>
              <a:t>99%準確率的數學保證：驗證鏈 (V-CoT) 與符號邏輯</a:t>
            </a:r>
            <a:endParaRPr sz="4800" b="1" i="0">
              <a:latin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91400" y="2051050"/>
            <a:ext cx="1549400" cy="1085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2A2C2E"/>
                </a:solidFill>
                <a:latin typeface="Noto Sans CJK TC"/>
              </a:rPr>
              <a:t>∑{n}$</a:t>
            </a:r>
            <a:endParaRPr sz="4000" b="1" i="0">
              <a:latin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794750" y="2235200"/>
            <a:ext cx="6413500" cy="831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282A2C"/>
                </a:solidFill>
                <a:latin typeface="DejaVu Sans"/>
              </a:rPr>
              <a:t>Grounding(Stepi, Context)</a:t>
            </a:r>
            <a:endParaRPr sz="3600" b="0" i="0">
              <a:latin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84400" y="2698750"/>
            <a:ext cx="4635500" cy="58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800" b="0" i="0">
                <a:solidFill>
                  <a:srgbClr val="222424"/>
                </a:solidFill>
                <a:latin typeface="DejaVu Sans"/>
              </a:rPr>
              <a:t>Verification_Score</a:t>
            </a:r>
            <a:endParaRPr sz="3800" b="0" i="0">
              <a:latin typeface="DejaVu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75850" y="3067050"/>
            <a:ext cx="27813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800" b="1" i="0">
                <a:solidFill>
                  <a:srgbClr val="212222"/>
                </a:solidFill>
                <a:latin typeface="DejaVu Sans"/>
              </a:rPr>
              <a:t>Total Steps</a:t>
            </a:r>
            <a:endParaRPr sz="3800" b="1" i="0">
              <a:latin typeface="DejaVu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75800" y="5080000"/>
            <a:ext cx="2235200" cy="450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AA9054"/>
                </a:solidFill>
                <a:latin typeface="Noto Sans CJK TC"/>
              </a:rPr>
              <a:t>多智能體反思</a:t>
            </a:r>
            <a:endParaRPr sz="2700" b="0" i="0">
              <a:latin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95400" y="5105400"/>
            <a:ext cx="2590800" cy="412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6A7786"/>
                </a:solidFill>
                <a:latin typeface="Noto Sans CJK TC"/>
              </a:rPr>
              <a:t>步進式演繹校驗</a:t>
            </a:r>
            <a:endParaRPr sz="2700" b="0" i="0">
              <a:latin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69450" y="5543550"/>
            <a:ext cx="428625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A58E53"/>
                </a:solidFill>
                <a:latin typeface="DejaVu Sans"/>
              </a:rPr>
              <a:t>(Multi-agent Reflection)</a:t>
            </a:r>
            <a:endParaRPr sz="2700" b="0" i="0">
              <a:latin typeface="DejaVu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95400" y="5568950"/>
            <a:ext cx="5715000" cy="463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657282"/>
                </a:solidFill>
                <a:latin typeface="DejaVu Sans"/>
              </a:rPr>
              <a:t>(Stepwise Deductive Validation)</a:t>
            </a:r>
            <a:endParaRPr sz="2700" b="0" i="0">
              <a:latin typeface="DejaVu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9050" y="6184900"/>
            <a:ext cx="47879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3D3E3E"/>
                </a:solidFill>
                <a:latin typeface="Noto Sans CJK TC"/>
              </a:rPr>
              <a:t>每個中間結論轉化為符號邏輯，由</a:t>
            </a:r>
            <a:endParaRPr sz="2300" b="0" i="0">
              <a:latin typeface="Noto Sans CJK T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569450" y="6184900"/>
            <a:ext cx="48387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333433"/>
                </a:solidFill>
                <a:latin typeface="Noto Sans CJK TC"/>
              </a:rPr>
              <a:t>推理代理 (Reasoning Agent)生成</a:t>
            </a:r>
            <a:endParaRPr sz="2400" b="0" i="0">
              <a:latin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82150" y="6629400"/>
            <a:ext cx="4692650" cy="412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383938"/>
                </a:solidFill>
                <a:latin typeface="Noto Sans CJK TC"/>
              </a:rPr>
              <a:t>答案，批判代理(CriticAgent）專</a:t>
            </a:r>
            <a:endParaRPr sz="2400" b="0" i="0">
              <a:latin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9050" y="6635750"/>
            <a:ext cx="3892550" cy="38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404040"/>
                </a:solidFill>
                <a:latin typeface="Noto Sans CJK TC"/>
              </a:rPr>
              <a:t>Z3求解器進行無衝突驗證。</a:t>
            </a:r>
            <a:endParaRPr sz="2300" b="0" i="0">
              <a:latin typeface="Noto Sans CJK T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588500" y="7080250"/>
            <a:ext cx="34163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3E3E3F"/>
                </a:solidFill>
                <a:latin typeface="Noto Sans CJK TC"/>
              </a:rPr>
              <a:t>職尋找漏洞與核對版本。</a:t>
            </a:r>
            <a:endParaRPr sz="2200" b="0" i="0">
              <a:latin typeface="Noto Sans CJK T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30500" y="8185150"/>
            <a:ext cx="11303000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600" b="0" i="0">
                <a:solidFill>
                  <a:srgbClr val="0B0B0C"/>
                </a:solidFill>
                <a:latin typeface="Noto Sans CJK TC"/>
              </a:rPr>
              <a:t>從「黑盒生成」轉變為「可追蹤的透明決策路徑圖」</a:t>
            </a:r>
            <a:endParaRPr sz="3600" b="0" i="0">
              <a:latin typeface="Noto Sans CJK T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414500" y="8426450"/>
            <a:ext cx="19685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1E2022"/>
                </a:solidFill>
                <a:latin typeface="DejaVu Sans"/>
              </a:rPr>
              <a:t>。</a:t>
            </a:r>
            <a:endParaRPr sz="1600" b="0" i="0">
              <a:latin typeface="DejaVu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332200" y="9474200"/>
            <a:ext cx="102870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4D4E4F"/>
                </a:solidFill>
                <a:latin typeface="DejaVu Sans"/>
              </a:rPr>
              <a:t>NotebookLM</a:t>
            </a:r>
            <a:endParaRPr sz="1200" b="1" i="0">
              <a:latin typeface="DejaVu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154400" y="9512300"/>
            <a:ext cx="146050" cy="10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BABABE"/>
                </a:solidFill>
                <a:latin typeface="DejaVu Sans"/>
              </a:rPr>
              <a:t>S</a:t>
            </a:r>
            <a:endParaRPr sz="800" b="1" i="0">
              <a:latin typeface="DejaVu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3750" y="793750"/>
            <a:ext cx="14122400" cy="876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121416"/>
                </a:solidFill>
                <a:latin typeface="Noto Sans CJK TC"/>
              </a:rPr>
              <a:t>贏得信任的關鍵：展示AI主動糾錯的「思考鏈」</a:t>
            </a:r>
            <a:endParaRPr sz="4800" b="1" i="0">
              <a:latin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81600" y="2882900"/>
            <a:ext cx="1409700" cy="463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1E1E21"/>
                </a:solidFill>
                <a:latin typeface="Noto Sans CJK TC"/>
              </a:rPr>
              <a:t>檢索異常</a:t>
            </a:r>
            <a:endParaRPr sz="2600" b="0" i="0">
              <a:latin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7600" y="2895600"/>
            <a:ext cx="1403350" cy="450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1B1C1D"/>
                </a:solidFill>
                <a:latin typeface="Noto Sans CJK TC"/>
              </a:rPr>
              <a:t>用戶詢問</a:t>
            </a:r>
            <a:endParaRPr sz="2500" b="0" i="0">
              <a:latin typeface="Noto Sans CJK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77350" y="2908300"/>
            <a:ext cx="13843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25221F"/>
                </a:solidFill>
                <a:latin typeface="Noto Sans CJK TC"/>
              </a:rPr>
              <a:t>主動暫停</a:t>
            </a:r>
            <a:endParaRPr sz="2500" b="0" i="0">
              <a:latin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47700" y="2908300"/>
            <a:ext cx="139065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161D17"/>
                </a:solidFill>
                <a:latin typeface="Noto Sans CJK TC"/>
              </a:rPr>
              <a:t>成功修正</a:t>
            </a:r>
            <a:endParaRPr sz="2500" b="0" i="0">
              <a:latin typeface="Noto Sans CJK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08400" y="3048000"/>
            <a:ext cx="431800" cy="292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979BA1"/>
                </a:solidFill>
                <a:latin typeface="DejaVu Sans"/>
              </a:rPr>
              <a:t>EQ</a:t>
            </a:r>
            <a:endParaRPr sz="2200" b="0" i="0">
              <a:latin typeface="DejaVu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90050" y="3937000"/>
            <a:ext cx="2889250" cy="40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42403C"/>
                </a:solidFill>
                <a:latin typeface="Noto Sans CJK TC"/>
              </a:rPr>
              <a:t>Agent主動暫停回答，</a:t>
            </a:r>
            <a:endParaRPr sz="2200" b="0" i="0">
              <a:latin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30300" y="3943350"/>
            <a:ext cx="2755900" cy="38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424346"/>
                </a:solidFill>
                <a:latin typeface="Noto Sans CJK TC"/>
              </a:rPr>
              <a:t>用戶詢問最新報銷限</a:t>
            </a:r>
            <a:endParaRPr sz="2200" b="0" i="0">
              <a:latin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07000" y="3949700"/>
            <a:ext cx="28575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3C3E42"/>
                </a:solidFill>
                <a:latin typeface="Noto Sans CJK TC"/>
              </a:rPr>
              <a:t>检索到2025年文件，</a:t>
            </a:r>
            <a:endParaRPr sz="2300" b="0" i="0">
              <a:latin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360400" y="3949700"/>
            <a:ext cx="296545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73C36"/>
                </a:solidFill>
                <a:latin typeface="Noto Sans CJK TC"/>
              </a:rPr>
              <a:t>定位2026年3月补充</a:t>
            </a:r>
            <a:endParaRPr sz="2500" b="0" i="0">
              <a:latin typeface="Noto Sans CJK T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8550" y="4368800"/>
            <a:ext cx="66675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4F5054"/>
                </a:solidFill>
                <a:latin typeface="Noto Sans CJK TC"/>
              </a:rPr>
              <a:t>額。</a:t>
            </a:r>
            <a:endParaRPr sz="2400" b="0" i="0">
              <a:latin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354050" y="4400550"/>
            <a:ext cx="27432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3F433F"/>
                </a:solidFill>
                <a:latin typeface="Noto Sans CJK TC"/>
              </a:rPr>
              <a:t>通知，給出正確答案</a:t>
            </a:r>
            <a:endParaRPr sz="2200" b="0" i="0">
              <a:latin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96400" y="4406900"/>
            <a:ext cx="2724150" cy="355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464440"/>
                </a:solidFill>
                <a:latin typeface="Noto Sans CJK TC"/>
              </a:rPr>
              <a:t>發起精確搜尋以獲取</a:t>
            </a:r>
            <a:endParaRPr sz="2200" b="0" i="0">
              <a:latin typeface="Noto Sans CJK T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19700" y="4413250"/>
            <a:ext cx="3016250" cy="349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4B4C4F"/>
                </a:solidFill>
                <a:latin typeface="Noto Sans CJK TC"/>
              </a:rPr>
              <a:t>但元數據標籤閃爍顯示</a:t>
            </a:r>
            <a:endParaRPr sz="2200" b="0" i="0">
              <a:latin typeface="Noto Sans CJK T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46700" y="4832350"/>
            <a:ext cx="143510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3A3D41"/>
                </a:solidFill>
                <a:latin typeface="Noto Sans CJK TC"/>
              </a:rPr>
              <a:t>「已被取代</a:t>
            </a:r>
            <a:endParaRPr sz="2100" b="0" i="0">
              <a:latin typeface="Noto Sans CJK T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77350" y="4857750"/>
            <a:ext cx="14859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45423E"/>
                </a:solidFill>
                <a:latin typeface="Noto Sans CJK TC"/>
              </a:rPr>
              <a:t>最新版本。</a:t>
            </a:r>
            <a:endParaRPr sz="2100" b="0" i="0">
              <a:latin typeface="Noto Sans CJK T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354050" y="4857750"/>
            <a:ext cx="23622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454944"/>
                </a:solidFill>
                <a:latin typeface="Noto Sans CJK TC"/>
              </a:rPr>
              <a:t>並標註糾錯邏輯。</a:t>
            </a:r>
            <a:endParaRPr sz="2100" b="0" i="0">
              <a:latin typeface="Noto Sans CJK T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91150" y="5321300"/>
            <a:ext cx="254000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3C4043"/>
                </a:solidFill>
                <a:latin typeface="Noto Sans CJK TC"/>
              </a:rPr>
              <a:t>(Superseded)」。</a:t>
            </a:r>
            <a:endParaRPr sz="2300" b="0" i="0">
              <a:latin typeface="Noto Sans CJK T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62050" y="7327900"/>
            <a:ext cx="14693900" cy="615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24272B"/>
                </a:solidFill>
                <a:latin typeface="Noto Sans CJK TC"/>
              </a:rPr>
              <a:t>這種「主動修正」與「擁有其推理過程（Owning the Reasoning Process）」的能力，是</a:t>
            </a:r>
            <a:endParaRPr sz="2800" b="0" i="0">
              <a:latin typeface="Noto Sans CJK T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93800" y="7893050"/>
            <a:ext cx="6134100" cy="469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25272B"/>
                </a:solidFill>
                <a:latin typeface="Noto Sans CJK TC"/>
              </a:rPr>
              <a:t>AI走向高風險生產環境的信任基礎。</a:t>
            </a:r>
            <a:endParaRPr sz="2800" b="0" i="0">
              <a:latin typeface="Noto Sans CJK T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262350" y="9442450"/>
            <a:ext cx="1117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4F5257"/>
                </a:solidFill>
                <a:latin typeface="DejaVu Sans"/>
              </a:rPr>
              <a:t>NotebookLM</a:t>
            </a:r>
            <a:endParaRPr sz="1300" b="1" i="0">
              <a:latin typeface="DejaVu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141700" y="9493250"/>
            <a:ext cx="196850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4E5058"/>
                </a:solidFill>
                <a:latin typeface="DejaVu Sans"/>
              </a:rPr>
              <a:t>6</a:t>
            </a:r>
            <a:endParaRPr sz="1100" b="1" i="0">
              <a:latin typeface="DejaVu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3750" y="768350"/>
            <a:ext cx="14744700" cy="927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151617"/>
                </a:solidFill>
                <a:latin typeface="Noto Sans CJK TC"/>
              </a:rPr>
              <a:t>代理架構的最終防線：「主權盾牌」與企業級治理</a:t>
            </a:r>
            <a:endParaRPr sz="4800" b="1" i="0">
              <a:latin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90300" y="2641600"/>
            <a:ext cx="5137150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292B2D"/>
                </a:solidFill>
                <a:latin typeface="Noto Sans CJK TC"/>
              </a:rPr>
              <a:t>行為軌跡審計-提供100%決策可追蹤</a:t>
            </a:r>
            <a:endParaRPr sz="2400" b="0" i="0">
              <a:latin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64900" y="2997200"/>
            <a:ext cx="3778250" cy="438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343638"/>
                </a:solidFill>
                <a:latin typeface="Noto Sans CJK TC"/>
              </a:rPr>
              <a:t>性，符合《欧盟AI法案》。</a:t>
            </a:r>
            <a:endParaRPr sz="2300" b="0" i="0">
              <a:latin typeface="Noto Sans CJK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83950" y="3905250"/>
            <a:ext cx="52959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2F2F31"/>
                </a:solidFill>
                <a:latin typeface="Noto Sans CJK TC"/>
              </a:rPr>
              <a:t>內容審查與過濾-PII(敏感數據攔截)與</a:t>
            </a:r>
            <a:endParaRPr sz="2400" b="0" i="0">
              <a:latin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58550" y="4305300"/>
            <a:ext cx="421640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2E3033"/>
                </a:solidFill>
                <a:latin typeface="Noto Sans CJK TC"/>
              </a:rPr>
              <a:t>PromptInjection（注入防禦）。</a:t>
            </a:r>
            <a:endParaRPr sz="2100" b="0" i="0">
              <a:latin typeface="Noto Sans CJK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29100" y="4311650"/>
            <a:ext cx="1244600" cy="38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D0ECE7"/>
                </a:solidFill>
                <a:latin typeface="Noto Sans CJK TC"/>
              </a:rPr>
              <a:t>自主代理</a:t>
            </a:r>
            <a:endParaRPr sz="2300" b="0" i="0">
              <a:latin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98900" y="4743450"/>
            <a:ext cx="189865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CBEAE6"/>
                </a:solidFill>
                <a:latin typeface="DejaVu Sans"/>
              </a:rPr>
              <a:t>(Autonomous</a:t>
            </a:r>
            <a:endParaRPr sz="2100" b="0" i="0">
              <a:latin typeface="DejaVu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56100" y="5118100"/>
            <a:ext cx="94615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CAE9E5"/>
                </a:solidFill>
                <a:latin typeface="DejaVu Sans"/>
              </a:rPr>
              <a:t>Agent)</a:t>
            </a:r>
            <a:endParaRPr sz="2100" b="0" i="0">
              <a:latin typeface="DejaVu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77600" y="5149850"/>
            <a:ext cx="555625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232527"/>
                </a:solidFill>
                <a:latin typeface="Noto Sans CJK TC"/>
              </a:rPr>
              <a:t>自動化推理檢查(Automated Reasoning</a:t>
            </a:r>
            <a:endParaRPr sz="2300" b="0" i="0">
              <a:latin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83950" y="5575300"/>
            <a:ext cx="4381500" cy="38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383A3B"/>
                </a:solidFill>
                <a:latin typeface="Noto Sans CJK TC"/>
              </a:rPr>
              <a:t>Checks)-形式邏輯驗證合法性。</a:t>
            </a:r>
            <a:endParaRPr sz="2300" b="0" i="0">
              <a:latin typeface="Noto Sans CJK T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83950" y="6432550"/>
            <a:ext cx="518795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2D2D2F"/>
                </a:solidFill>
                <a:latin typeface="Noto Sans CJK TC"/>
              </a:rPr>
              <a:t>行為軌跡審計－提供100%決策可追蹤</a:t>
            </a:r>
            <a:endParaRPr sz="2300" b="0" i="0">
              <a:latin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83950" y="6845300"/>
            <a:ext cx="36957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363839"/>
                </a:solidFill>
                <a:latin typeface="Noto Sans CJK TC"/>
              </a:rPr>
              <a:t>性，符合《欧盟AI法案》。</a:t>
            </a:r>
            <a:endParaRPr sz="2300" b="0" i="0">
              <a:latin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25550" y="8007350"/>
            <a:ext cx="14859000" cy="508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232528"/>
                </a:solidFill>
                <a:latin typeface="Noto Sans CJK TC"/>
              </a:rPr>
              <a:t>遵循「最小權限原則」，將治理邏輯直接嵌入代理的獎勵函數中，確保其始終在安全與</a:t>
            </a:r>
            <a:endParaRPr sz="2800" b="0" i="0">
              <a:latin typeface="Noto Sans CJK T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44600" y="8528050"/>
            <a:ext cx="3041650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26282C"/>
                </a:solidFill>
                <a:latin typeface="Noto Sans CJK TC"/>
              </a:rPr>
              <a:t>倫理軌道內運行。</a:t>
            </a:r>
            <a:endParaRPr sz="2800" b="0" i="0">
              <a:latin typeface="Noto Sans CJK T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332200" y="9467850"/>
            <a:ext cx="102235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4B4E51"/>
                </a:solidFill>
                <a:latin typeface="DejaVu Sans"/>
              </a:rPr>
              <a:t>NotebookLM</a:t>
            </a:r>
            <a:endParaRPr sz="1200" b="1" i="0">
              <a:latin typeface="DejaVu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160750" y="9512300"/>
            <a:ext cx="158750" cy="10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C3C7C9"/>
                </a:solidFill>
                <a:latin typeface="DejaVu Sans"/>
              </a:rPr>
              <a:t>S</a:t>
            </a:r>
            <a:endParaRPr sz="800" b="1" i="0">
              <a:latin typeface="DejaVu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35250" y="768350"/>
            <a:ext cx="12172950" cy="768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200" b="1" i="0">
                <a:solidFill>
                  <a:srgbClr val="111111"/>
                </a:solidFill>
                <a:latin typeface="Noto Sans CJK TC"/>
              </a:rPr>
              <a:t>企業生產力的重塑：從數據收集者到決策協調者</a:t>
            </a:r>
            <a:endParaRPr sz="4200" b="1" i="0">
              <a:latin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474200" y="2184400"/>
            <a:ext cx="113665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717373"/>
                </a:solidFill>
                <a:latin typeface="DejaVu Sans"/>
              </a:rPr>
              <a:t>Secure Synthesis</a:t>
            </a:r>
            <a:endParaRPr sz="900" b="0" i="0">
              <a:latin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30850" y="2419350"/>
            <a:ext cx="85725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727272"/>
                </a:solidFill>
                <a:latin typeface="DejaVu Sans"/>
              </a:rPr>
              <a:t>Vector Scale</a:t>
            </a:r>
            <a:endParaRPr sz="1000" b="0" i="0">
              <a:latin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64900" y="3187700"/>
            <a:ext cx="152400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B4D8C6"/>
                </a:solidFill>
                <a:latin typeface="Noto Sans CJK TC"/>
              </a:rPr>
              <a:t>口</a:t>
            </a:r>
            <a:endParaRPr sz="900" b="0" i="0">
              <a:latin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172950" y="3949700"/>
            <a:ext cx="539750" cy="647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800" b="1" i="0">
                <a:solidFill>
                  <a:srgbClr val="538F76"/>
                </a:solidFill>
                <a:latin typeface="DejaVu Sans"/>
              </a:rPr>
              <a:t>8</a:t>
            </a:r>
            <a:endParaRPr sz="4800" b="1" i="0">
              <a:latin typeface="DejaVu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94700" y="6102350"/>
            <a:ext cx="9017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767676"/>
                </a:solidFill>
                <a:latin typeface="DejaVu Sans"/>
              </a:rPr>
              <a:t>Agentic Logic</a:t>
            </a:r>
            <a:endParaRPr sz="1000" b="0" i="0">
              <a:latin typeface="DejaVu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55100" y="6946900"/>
            <a:ext cx="7734300" cy="501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161616"/>
                </a:solidFill>
                <a:latin typeface="Noto Sans CJK TC"/>
              </a:rPr>
              <a:t>2026年的RAG前沿不再是「更好的Embedding」</a:t>
            </a:r>
            <a:endParaRPr sz="2600" b="0" i="0">
              <a:latin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2350" y="6985000"/>
            <a:ext cx="5067300" cy="450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A79573"/>
                </a:solidFill>
                <a:latin typeface="Noto Sans CJK TC"/>
              </a:rPr>
              <a:t>「向量縮小範圍，代理找到真相。」</a:t>
            </a:r>
            <a:endParaRPr sz="2300" b="0" i="0">
              <a:latin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86850" y="7442200"/>
            <a:ext cx="565150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1F2020"/>
                </a:solidFill>
                <a:latin typeface="Noto Sans CJK TC"/>
              </a:rPr>
              <a:t>之争，而是「最優決策流程」的博弈。</a:t>
            </a:r>
            <a:endParaRPr sz="2400" b="0" i="0">
              <a:latin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9650" y="7575550"/>
            <a:ext cx="4102100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4C4C4C"/>
                </a:solidFill>
                <a:latin typeface="Noto Sans CJK TC"/>
              </a:rPr>
              <a:t>「向量縮小範圍，代理找到真相。」</a:t>
            </a:r>
            <a:endParaRPr sz="1900" b="0" i="0">
              <a:latin typeface="Noto Sans CJK T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86850" y="8204200"/>
            <a:ext cx="763905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464646"/>
                </a:solidFill>
                <a:latin typeface="Noto Sans CJK TC"/>
              </a:rPr>
              <a:t>分析師將不再浪費80%時間核對数據，管理者將利用AI代理在</a:t>
            </a:r>
            <a:endParaRPr sz="2100" b="0" i="0">
              <a:latin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86850" y="8578850"/>
            <a:ext cx="7874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4C4C4C"/>
                </a:solidFill>
                <a:latin typeface="Noto Sans CJK TC"/>
              </a:rPr>
              <a:t>數分鐘內完成跨部門數據對齊。這是一場從語義相似到邏輯真實的</a:t>
            </a:r>
            <a:endParaRPr sz="2000" b="0" i="0">
              <a:latin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55100" y="8915400"/>
            <a:ext cx="138430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4E4E4E"/>
                </a:solidFill>
                <a:latin typeface="Noto Sans CJK TC"/>
              </a:rPr>
              <a:t>深刻跨越。</a:t>
            </a:r>
            <a:endParaRPr sz="2000" b="0" i="0">
              <a:latin typeface="Noto Sans CJK T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103600" y="945515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525252"/>
                </a:solidFill>
                <a:latin typeface="DejaVu Sans"/>
              </a:rPr>
              <a:t>NotebookLM</a:t>
            </a:r>
            <a:endParaRPr sz="1500" b="1" i="0">
              <a:latin typeface="DejaVu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