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6350" y="1200150"/>
            <a:ext cx="2222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1D5D8"/>
                </a:solidFill>
                <a:latin typeface="DejaVu Sans"/>
              </a:rPr>
              <a:t>14</a:t>
            </a:r>
            <a:endParaRPr sz="1200" b="1" i="0">
              <a:latin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2950" y="12128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15</a:t>
            </a:r>
            <a:endParaRPr sz="1100" b="1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2750" y="1504950"/>
            <a:ext cx="16129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5797C"/>
                </a:solidFill>
                <a:latin typeface="DejaVu Sans"/>
              </a:rPr>
              <a:t>AGENTIC LOGIC PATHS</a:t>
            </a:r>
            <a:endParaRPr sz="1000" b="1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63300" y="16954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7D6C4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9050" y="191135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0D4D7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2950" y="19113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33200" y="2082800"/>
            <a:ext cx="2286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FCDBC"/>
                </a:solidFill>
                <a:latin typeface="DejaVu Sans"/>
              </a:rPr>
              <a:t>KA</a:t>
            </a:r>
            <a:endParaRPr sz="1300" b="1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17150" y="21018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4D6BF"/>
                </a:solidFill>
                <a:latin typeface="DejaVu Sans"/>
              </a:rPr>
              <a:t>NG</a:t>
            </a:r>
            <a:endParaRPr sz="1300" b="1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700" y="245110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B7E80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35050" y="25908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C8084"/>
                </a:solidFill>
                <a:latin typeface="DejaVu Sans"/>
              </a:rPr>
              <a:t>CONTEXTUAL ROUTING</a:t>
            </a:r>
            <a:endParaRPr sz="900" b="1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8900" y="27622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3D6C3"/>
                </a:solidFill>
                <a:latin typeface="DejaVu Sans"/>
              </a:rPr>
              <a:t>NG</a:t>
            </a:r>
            <a:endParaRPr sz="10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35050" y="2857500"/>
            <a:ext cx="16065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4787D"/>
                </a:solidFill>
                <a:latin typeface="DejaVu Sans"/>
              </a:rPr>
              <a:t>PRECISION INFERENCE</a:t>
            </a:r>
            <a:endParaRPr sz="1000" b="1" i="0">
              <a:latin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86200" y="3035300"/>
            <a:ext cx="1397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6D5DA"/>
                </a:solidFill>
                <a:latin typeface="DejaVu Sans"/>
              </a:rPr>
              <a:t>2</a:t>
            </a:r>
            <a:endParaRPr sz="1300" b="1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03300" y="3695700"/>
            <a:ext cx="1555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77C81"/>
                </a:solidFill>
                <a:latin typeface="DejaVu Sans"/>
              </a:rPr>
              <a:t>TARGET NODE LOCKED</a:t>
            </a:r>
            <a:endParaRPr sz="1000" b="1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8050" y="3702050"/>
            <a:ext cx="14351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D8184"/>
                </a:solidFill>
                <a:latin typeface="DejaVu Sans"/>
              </a:rPr>
              <a:t>SENANTIC CLUSTERS</a:t>
            </a:r>
            <a:endParaRPr sz="1000" b="1" i="0">
              <a:latin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60800" y="3714750"/>
            <a:ext cx="19685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9CDD0"/>
                </a:solidFill>
                <a:latin typeface="DejaVu Sans"/>
              </a:rPr>
              <a:t>0</a:t>
            </a:r>
            <a:endParaRPr sz="1300" b="1" i="0">
              <a:latin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2950" y="3727450"/>
            <a:ext cx="1778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6CBD1"/>
                </a:solidFill>
                <a:latin typeface="DejaVu Sans"/>
              </a:rPr>
              <a:t>0</a:t>
            </a:r>
            <a:endParaRPr sz="1100" b="1" i="0">
              <a:latin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79850" y="4362450"/>
            <a:ext cx="1270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D4D8DB"/>
                </a:solidFill>
                <a:latin typeface="Noto Sans CJK TC"/>
              </a:rPr>
              <a:t>-2</a:t>
            </a:r>
            <a:endParaRPr sz="800" b="1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45900" y="4457700"/>
            <a:ext cx="1905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D0CEBD"/>
                </a:solidFill>
                <a:latin typeface="DejaVu Sans"/>
              </a:rPr>
              <a:t>AC</a:t>
            </a:r>
            <a:endParaRPr sz="1000" b="1" i="0">
              <a:latin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35050" y="47307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3787E"/>
                </a:solidFill>
                <a:latin typeface="DejaVu Sans"/>
              </a:rPr>
              <a:t>TARGET NODE LOCKED</a:t>
            </a:r>
            <a:endParaRPr sz="900" b="1" i="0">
              <a:latin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476885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6797C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64950" y="5086350"/>
            <a:ext cx="165100" cy="13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2D2BE"/>
                </a:solidFill>
                <a:latin typeface="DejaVu Sans"/>
              </a:rPr>
              <a:t>M</a:t>
            </a:r>
            <a:endParaRPr sz="1100" b="1" i="0">
              <a:latin typeface="DejaVu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19400" y="5130800"/>
            <a:ext cx="8064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828689"/>
                </a:solidFill>
                <a:latin typeface="DejaVu Sans"/>
              </a:rPr>
              <a:t>Fira Code</a:t>
            </a:r>
            <a:endParaRPr sz="1200" b="1" i="0">
              <a:latin typeface="DejaVu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36200" y="5270500"/>
            <a:ext cx="234950" cy="146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1D1C0"/>
                </a:solidFill>
                <a:latin typeface="DejaVu Sans"/>
              </a:rPr>
              <a:t>RA</a:t>
            </a:r>
            <a:endParaRPr sz="1100" b="1" i="0">
              <a:latin typeface="DejaVu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68350" y="5340350"/>
            <a:ext cx="2730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ACED4"/>
                </a:solidFill>
                <a:latin typeface="Noto Sans CJK TC"/>
              </a:rPr>
              <a:t>-10</a:t>
            </a:r>
            <a:endParaRPr sz="1300" b="1" i="0">
              <a:latin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645900" y="5638800"/>
            <a:ext cx="1905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DC7B5"/>
                </a:solidFill>
                <a:latin typeface="DejaVu Sans"/>
              </a:rPr>
              <a:t>RO</a:t>
            </a:r>
            <a:endParaRPr sz="900" b="1" i="0">
              <a:latin typeface="DejaVu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02750" y="5829300"/>
            <a:ext cx="15367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3767B"/>
                </a:solidFill>
                <a:latin typeface="DejaVu Sans"/>
              </a:rPr>
              <a:t>CONTEXTUAL ROUTING</a:t>
            </a:r>
            <a:endParaRPr sz="900" b="0" i="0">
              <a:latin typeface="DejaVu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2700" y="6197600"/>
            <a:ext cx="2095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0D4D7"/>
                </a:solidFill>
                <a:latin typeface="DejaVu Sans"/>
              </a:rPr>
              <a:t>10</a:t>
            </a:r>
            <a:endParaRPr sz="1200" b="1" i="0">
              <a:latin typeface="DejaVu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519150" y="6216650"/>
            <a:ext cx="17145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BD0D6"/>
                </a:solidFill>
                <a:latin typeface="DejaVu Sans"/>
              </a:rPr>
              <a:t>15</a:t>
            </a:r>
            <a:endParaRPr sz="900" b="1" i="0">
              <a:latin typeface="DejaVu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00650" y="6375400"/>
            <a:ext cx="12700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C7CCCF"/>
                </a:solidFill>
                <a:latin typeface="DejaVu Sans"/>
              </a:rPr>
              <a:t>6</a:t>
            </a:r>
            <a:endParaRPr sz="800" b="1" i="0">
              <a:latin typeface="DejaVu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79700" y="7010400"/>
            <a:ext cx="12103100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D232B"/>
                </a:solidFill>
                <a:latin typeface="Noto Sans CJK TC"/>
              </a:rPr>
              <a:t>RAG 2026：當向量搜尋遇上代理推理</a:t>
            </a:r>
            <a:endParaRPr sz="4800" b="1" i="0">
              <a:latin typeface="Noto Sans CJK T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70350" y="8064500"/>
            <a:ext cx="9321800" cy="6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34383E"/>
                </a:solidFill>
                <a:latin typeface="Noto Sans CJK TC"/>
              </a:rPr>
              <a:t>企業級 99%準確度AI架構的演進與實踐指南</a:t>
            </a:r>
            <a:endParaRPr sz="3600" b="1" i="0">
              <a:latin typeface="Noto Sans CJK T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19500" y="9461500"/>
            <a:ext cx="10477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A4E55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400" y="412750"/>
            <a:ext cx="154622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1E1F1F"/>
                </a:solidFill>
                <a:latin typeface="Noto Sans CJK TC"/>
              </a:rPr>
              <a:t>「上下文盲視」揭示了 RAG1.0建立在脆弱的統計假象之上</a:t>
            </a:r>
            <a:endParaRPr sz="45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48350" y="2101850"/>
            <a:ext cx="57594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42525"/>
                </a:solidFill>
                <a:latin typeface="DejaVu Sans"/>
              </a:rPr>
              <a:t>The Anatomy of Context Blindness</a:t>
            </a:r>
            <a:endParaRPr sz="25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3700" y="2806700"/>
            <a:ext cx="1778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2B6B9"/>
                </a:solidFill>
                <a:latin typeface="Noto Sans CJK TC"/>
              </a:rPr>
              <a:t>中</a:t>
            </a:r>
            <a:endParaRPr sz="12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53700" y="2806700"/>
            <a:ext cx="184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2B7BD"/>
                </a:solidFill>
                <a:latin typeface="Noto Sans CJK TC"/>
              </a:rPr>
              <a:t>中</a:t>
            </a:r>
            <a:endParaRPr sz="12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31150" y="3346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5F6A76"/>
                </a:solidFill>
                <a:latin typeface="DejaVu Sans"/>
              </a:rPr>
              <a:t>RRARNE</a:t>
            </a:r>
            <a:endParaRPr sz="2300" b="0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6350" y="3384550"/>
            <a:ext cx="1720850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F0F0F0"/>
                </a:solidFill>
                <a:latin typeface="Noto Sans CJK TC"/>
              </a:rPr>
              <a:t>根本原因</a:t>
            </a:r>
            <a:endParaRPr sz="31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3403600"/>
            <a:ext cx="168275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E4EDF3"/>
                </a:solidFill>
                <a:latin typeface="Noto Sans CJK TC"/>
              </a:rPr>
              <a:t>企業痛點</a:t>
            </a:r>
            <a:endParaRPr sz="31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4038600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A261E"/>
                </a:solidFill>
                <a:latin typeface="Noto Sans CJK TC"/>
              </a:rPr>
              <a:t>核心規則(Core Rule)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2700" y="4349750"/>
            <a:ext cx="35623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語義相似性≠事實正確性。</a:t>
            </a:r>
            <a:endParaRPr sz="21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650" y="442595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94949"/>
                </a:solidFill>
                <a:latin typeface="Noto Sans CJK TC"/>
              </a:rPr>
              <a:t>企業入數萬份文件，系統卻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902200"/>
            <a:ext cx="3759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A4A4A"/>
                </a:solidFill>
                <a:latin typeface="Noto Sans CJK TC"/>
              </a:rPr>
              <a:t>頻繁引用2023年的舊合約來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34700" y="4965700"/>
            <a:ext cx="13716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A35152"/>
                </a:solidFill>
                <a:latin typeface="Noto Sans CJK TC"/>
              </a:rPr>
              <a:t>切片演算法/</a:t>
            </a:r>
            <a:endParaRPr sz="18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31750" y="5054600"/>
            <a:ext cx="38481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A4A4A"/>
                </a:solidFill>
                <a:latin typeface="Noto Sans CJK TC"/>
              </a:rPr>
              <a:t>向量空間的鄰近性僅代表詞彙</a:t>
            </a:r>
            <a:endParaRPr sz="21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80700" y="5321300"/>
            <a:ext cx="1676400" cy="23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6595C"/>
                </a:solidFill>
                <a:latin typeface="DejaVu Sans"/>
              </a:rPr>
              <a:t>Chunking Algorithm</a:t>
            </a:r>
            <a:endParaRPr sz="12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950" y="5346700"/>
            <a:ext cx="3422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64646"/>
                </a:solidFill>
                <a:latin typeface="Noto Sans CJK TC"/>
              </a:rPr>
              <a:t>回答2026年的決策問题。</a:t>
            </a:r>
            <a:endParaRPr sz="22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731750" y="5518150"/>
            <a:ext cx="38481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53535"/>
                </a:solidFill>
                <a:latin typeface="Noto Sans CJK TC"/>
              </a:rPr>
              <a:t>分佈的接近，完全無視邏輯真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38100" y="5988050"/>
            <a:ext cx="2628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實性與版本有效性。</a:t>
            </a:r>
            <a:endParaRPr sz="21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44450" y="6800850"/>
            <a:ext cx="3848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04040"/>
                </a:solidFill>
                <a:latin typeface="Noto Sans CJK TC"/>
              </a:rPr>
              <a:t>單純的切片策略會導致準確度</a:t>
            </a:r>
            <a:endParaRPr sz="21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36000" y="6915150"/>
            <a:ext cx="1231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E2B24"/>
                </a:solidFill>
                <a:latin typeface="Noto Sans CJK TC"/>
              </a:rPr>
              <a:t>例外條款</a:t>
            </a:r>
            <a:endParaRPr sz="22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31750" y="7258050"/>
            <a:ext cx="21463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D2D2D"/>
                </a:solidFill>
                <a:latin typeface="Noto Sans CJK TC"/>
              </a:rPr>
              <a:t>下降超過60%。</a:t>
            </a:r>
            <a:endParaRPr sz="22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6550" y="7315200"/>
            <a:ext cx="2603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7221A"/>
                </a:solidFill>
                <a:latin typeface="DejaVu Sans"/>
              </a:rPr>
              <a:t>(Exception Clause)</a:t>
            </a:r>
            <a:endParaRPr sz="2000" b="0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287750" y="9474200"/>
            <a:ext cx="10731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84D52"/>
                </a:solidFill>
                <a:latin typeface="DejaVu Sans"/>
              </a:rPr>
              <a:t>NotebookLM</a:t>
            </a:r>
            <a:endParaRPr sz="1300" b="1" i="0"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200" y="742950"/>
            <a:ext cx="128905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1" i="0">
                <a:solidFill>
                  <a:srgbClr val="070707"/>
                </a:solidFill>
                <a:latin typeface="Noto Sans CJK TC"/>
              </a:rPr>
              <a:t>向量資料庫依然是處理千萬級數據的極速堡壘</a:t>
            </a:r>
            <a:endParaRPr sz="47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850" y="2019300"/>
            <a:ext cx="147955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22223"/>
                </a:solidFill>
                <a:latin typeface="Noto Sans CJK TC"/>
              </a:rPr>
              <a:t>核心優勢</a:t>
            </a:r>
            <a:endParaRPr sz="27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15700" y="2019300"/>
            <a:ext cx="21336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E1E1E"/>
                </a:solidFill>
                <a:latin typeface="Noto Sans CJK TC"/>
              </a:rPr>
              <a:t>最佳應用場景</a:t>
            </a:r>
            <a:endParaRPr sz="26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500" y="2025650"/>
            <a:ext cx="1492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B1B1B"/>
                </a:solidFill>
                <a:latin typeface="Noto Sans CJK TC"/>
              </a:rPr>
              <a:t>解决方案</a:t>
            </a:r>
            <a:endParaRPr sz="27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5900" y="2838450"/>
            <a:ext cx="466090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43434"/>
                </a:solidFill>
                <a:latin typeface="Noto Sans CJK TC"/>
              </a:rPr>
              <a:t>大規模RAG（穩定性舆擴展性）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8400" y="2863850"/>
            <a:ext cx="24638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  <a:latin typeface="Noto Sans CJK TC"/>
              </a:rPr>
              <a:t>企業級生產環境</a:t>
            </a:r>
            <a:endParaRPr sz="26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2300" y="2908300"/>
            <a:ext cx="1568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82828"/>
                </a:solidFill>
                <a:latin typeface="DejaVu Sans"/>
              </a:rPr>
              <a:t>Pinecone</a:t>
            </a:r>
            <a:endParaRPr sz="26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4750" y="3727450"/>
            <a:ext cx="24574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636"/>
                </a:solidFill>
                <a:latin typeface="Noto Sans CJK TC"/>
              </a:rPr>
              <a:t>合規性嚴格環境</a:t>
            </a:r>
            <a:endParaRPr sz="25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00" y="3740150"/>
            <a:ext cx="40957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63737"/>
                </a:solidFill>
                <a:latin typeface="Noto Sans CJK TC"/>
              </a:rPr>
              <a:t>混合搜尋精度(詞法+語義)</a:t>
            </a:r>
            <a:endParaRPr sz="27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2300" y="3759200"/>
            <a:ext cx="2044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92A2A"/>
                </a:solidFill>
                <a:latin typeface="DejaVu Sans"/>
              </a:rPr>
              <a:t>OpenSearch</a:t>
            </a:r>
            <a:endParaRPr sz="2500" b="0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14950" y="4603750"/>
            <a:ext cx="27686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33333"/>
                </a:solidFill>
                <a:latin typeface="Noto Sans CJK TC"/>
              </a:rPr>
              <a:t>現有資料庫集成度</a:t>
            </a:r>
            <a:endParaRPr sz="25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41100" y="4616450"/>
            <a:ext cx="31051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A3A3A"/>
                </a:solidFill>
                <a:latin typeface="Noto Sans CJK TC"/>
              </a:rPr>
              <a:t>中小團隊與輕量開發</a:t>
            </a:r>
            <a:endParaRPr sz="25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8650" y="46482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72928"/>
                </a:solidFill>
                <a:latin typeface="DejaVu Sans"/>
              </a:rPr>
              <a:t>PGVector</a:t>
            </a:r>
            <a:endParaRPr sz="25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66900" y="5448300"/>
            <a:ext cx="10033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82929"/>
                </a:solidFill>
                <a:latin typeface="DejaVu Sans"/>
              </a:rPr>
              <a:t>Redis</a:t>
            </a:r>
            <a:endParaRPr sz="27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41100" y="5461000"/>
            <a:ext cx="30988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C3C3C"/>
                </a:solidFill>
                <a:latin typeface="Noto Sans CJK TC"/>
              </a:rPr>
              <a:t>實時應用與語義緩存</a:t>
            </a:r>
            <a:endParaRPr sz="25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8600" y="54673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535"/>
                </a:solidFill>
                <a:latin typeface="Noto Sans CJK TC"/>
              </a:rPr>
              <a:t>極低延遲與內存運算（TTFT)</a:t>
            </a:r>
            <a:endParaRPr sz="25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8400" y="6318250"/>
            <a:ext cx="31178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B3B3B"/>
                </a:solidFill>
                <a:latin typeface="Noto Sans CJK TC"/>
              </a:rPr>
              <a:t>邊緣運算與原型設計</a:t>
            </a:r>
            <a:endParaRPr sz="25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6324600"/>
            <a:ext cx="1511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62626"/>
                </a:solidFill>
                <a:latin typeface="DejaVu Sans"/>
              </a:rPr>
              <a:t>LanceDB</a:t>
            </a:r>
            <a:endParaRPr sz="2500" b="0" i="0">
              <a:latin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1300" y="633095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83838"/>
                </a:solidFill>
                <a:latin typeface="Noto Sans CJK TC"/>
              </a:rPr>
              <a:t>本地優先靈活性</a:t>
            </a:r>
            <a:endParaRPr sz="25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750" y="7435850"/>
            <a:ext cx="56007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18110C"/>
                </a:solidFill>
                <a:latin typeface="Noto Sans CJK TC"/>
              </a:rPr>
              <a:t>結構性致命傷（TheFatal Flaw)</a:t>
            </a:r>
            <a:endParaRPr sz="30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48750" y="8089900"/>
            <a:ext cx="7448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E37"/>
                </a:solidFill>
                <a:latin typeface="Noto Sans CJK TC"/>
              </a:rPr>
              <a:t>索引延遲與上下文混淆。尋找「增加預算」時，系統常</a:t>
            </a:r>
            <a:endParaRPr sz="2200" b="0" i="0">
              <a:latin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55100" y="8477250"/>
            <a:ext cx="52197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D37"/>
                </a:solidFill>
                <a:latin typeface="Noto Sans CJK TC"/>
              </a:rPr>
              <a:t>因語義模糊撈出「削減開支」的片段。</a:t>
            </a:r>
            <a:endParaRPr sz="2200" b="0" i="0">
              <a:latin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C4F4F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