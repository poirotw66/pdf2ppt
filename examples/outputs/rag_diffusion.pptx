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7475200" cy="975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6350" y="1200150"/>
            <a:ext cx="2222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1F1F1F"/>
                </a:solidFill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42950" y="1212850"/>
            <a:ext cx="2032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02750" y="1504950"/>
            <a:ext cx="1612900" cy="19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1F1F1F"/>
                </a:solidFill>
              </a:rPr>
              <a:t>AGENTIC LOGIC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3300" y="1695450"/>
            <a:ext cx="203200" cy="165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29050" y="1911350"/>
            <a:ext cx="20320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2950" y="1911350"/>
            <a:ext cx="2032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E5E8EF"/>
                </a:solidFill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3200" y="2082800"/>
            <a:ext cx="2286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1F1F1F"/>
                </a:solidFill>
              </a:rPr>
              <a:t>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17150" y="2101850"/>
            <a:ext cx="2667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1F1F1F"/>
                </a:solidFill>
              </a:rPr>
              <a:t>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1700" y="2451100"/>
            <a:ext cx="14414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</a:rPr>
              <a:t>VECTOR 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35050" y="259080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</a:rPr>
              <a:t>CONTEXTUAL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8900" y="2762250"/>
            <a:ext cx="2032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</a:rPr>
              <a:t>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35050" y="2857500"/>
            <a:ext cx="16065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1F1F1F"/>
                </a:solidFill>
              </a:rPr>
              <a:t>PRECISION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035300"/>
            <a:ext cx="1397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03300" y="3695700"/>
            <a:ext cx="15557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C9CDD3"/>
                </a:solidFill>
              </a:rPr>
              <a:t>TARGET NODE LOCKED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8050" y="3702050"/>
            <a:ext cx="143510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</a:rPr>
              <a:t>SENANTIC CLUSTERS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60800" y="3714750"/>
            <a:ext cx="19685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2950" y="3727450"/>
            <a:ext cx="177800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E4E9EF"/>
                </a:solidFill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9850" y="4362450"/>
            <a:ext cx="127000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</a:rPr>
              <a:t>-2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5900" y="4457700"/>
            <a:ext cx="1905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1F1F1F"/>
                </a:solidFill>
              </a:rPr>
              <a:t>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35050" y="473075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C7CCD1"/>
                </a:solidFill>
              </a:rPr>
              <a:t>TARGET NODE 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1700" y="4768850"/>
            <a:ext cx="14414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</a:rPr>
              <a:t>VECTOR EMBEDDINGS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64950" y="5086350"/>
            <a:ext cx="165100" cy="139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50" b="0" i="0">
                <a:solidFill>
                  <a:srgbClr val="1F1F1F"/>
                </a:solidFill>
              </a:rPr>
              <a:t>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9400" y="5130800"/>
            <a:ext cx="806450" cy="19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1F1F1F"/>
                </a:solidFill>
              </a:rPr>
              <a:t>Fira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36200" y="5270500"/>
            <a:ext cx="234950" cy="146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E9E8DE"/>
                </a:solidFill>
              </a:rPr>
              <a:t>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68350" y="5340350"/>
            <a:ext cx="27305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E4E8EF"/>
                </a:solidFill>
              </a:rPr>
              <a:t>-10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45900" y="5638800"/>
            <a:ext cx="1905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</a:rPr>
              <a:t>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2750" y="5829300"/>
            <a:ext cx="15367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1F1F1F"/>
                </a:solidFill>
              </a:rPr>
              <a:t>CONTEXTUAL ROUTING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22700" y="6197600"/>
            <a:ext cx="20955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19150" y="6216650"/>
            <a:ext cx="171450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DDE2E7"/>
                </a:solidFill>
              </a:rP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0650" y="6375400"/>
            <a:ext cx="127000" cy="10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1F1F1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79700" y="7010400"/>
            <a:ext cx="12103100" cy="990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800" b="0" i="0">
                <a:solidFill>
                  <a:srgbClr val="B1B6BB"/>
                </a:solidFill>
              </a:rPr>
              <a:t>RAG 2026：當向量搜尋遇上代理推理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70350" y="8064500"/>
            <a:ext cx="9321800" cy="679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700" b="0" i="0">
                <a:solidFill>
                  <a:srgbClr val="C2C6CC"/>
                </a:solidFill>
              </a:rPr>
              <a:t>企業級 99%準確度AI架構的演進與實踐指南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319500" y="9461500"/>
            <a:ext cx="1047750" cy="19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ACB0B7"/>
                </a:solidFill>
              </a:rPr>
              <a:t>NotebookLM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8400" y="412750"/>
            <a:ext cx="15462250" cy="857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700" b="0" i="0">
                <a:solidFill>
                  <a:srgbClr val="1F1F1F"/>
                </a:solidFill>
              </a:rPr>
              <a:t>「上下文盲視」揭示了 RAG1.0建立在脆弱的統計假象之上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8350" y="2101850"/>
            <a:ext cx="575945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1F1F1F"/>
                </a:solidFill>
              </a:rPr>
              <a:t>The Anatomy of Context Blindness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43700" y="2806700"/>
            <a:ext cx="177800" cy="165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</a:rPr>
              <a:t>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53700" y="2806700"/>
            <a:ext cx="18415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50" b="0" i="0">
                <a:solidFill>
                  <a:srgbClr val="DDE1E7"/>
                </a:solidFill>
              </a:rPr>
              <a:t>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31150" y="3346450"/>
            <a:ext cx="161925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BCC4CB"/>
                </a:solidFill>
              </a:rPr>
              <a:t>RRARNE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6350" y="3384550"/>
            <a:ext cx="1720850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300" b="0" i="0">
                <a:solidFill>
                  <a:srgbClr val="FFFFFF"/>
                </a:solidFill>
              </a:rPr>
              <a:t>根本原因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3403600"/>
            <a:ext cx="1682750" cy="488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150" b="0" i="0">
                <a:solidFill>
                  <a:srgbClr val="8693A3"/>
                </a:solidFill>
              </a:rPr>
              <a:t>企業痛點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038600"/>
            <a:ext cx="2838450" cy="40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50" b="0" i="0">
                <a:solidFill>
                  <a:srgbClr val="B7B1A3"/>
                </a:solidFill>
              </a:rPr>
              <a:t>核心規則(Core Rule)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2700" y="4349750"/>
            <a:ext cx="356235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50" b="0" i="0">
                <a:solidFill>
                  <a:srgbClr val="1F1F1F"/>
                </a:solidFill>
              </a:rPr>
              <a:t>語義相似性≠事實正確性。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650" y="4425950"/>
            <a:ext cx="38354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50" b="0" i="0">
                <a:solidFill>
                  <a:srgbClr val="1F1F1F"/>
                </a:solidFill>
              </a:rPr>
              <a:t>企業入數萬份文件，系統卻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902200"/>
            <a:ext cx="3759200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50" b="0" i="0">
                <a:solidFill>
                  <a:srgbClr val="1F1F1F"/>
                </a:solidFill>
              </a:rPr>
              <a:t>頻繁引用2023年的舊合約來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34700" y="4965700"/>
            <a:ext cx="13716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D7B6B8"/>
                </a:solidFill>
              </a:rPr>
              <a:t>切片演算法/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31750" y="5054600"/>
            <a:ext cx="38481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1F1F1F"/>
                </a:solidFill>
              </a:rPr>
              <a:t>向量空間的鄰近性僅代表詞彙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700" y="5321300"/>
            <a:ext cx="1676400" cy="23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1F1F1F"/>
                </a:solidFill>
              </a:rPr>
              <a:t>Chunking 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950" y="5346700"/>
            <a:ext cx="3422650" cy="38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1F1F1F"/>
                </a:solidFill>
              </a:rPr>
              <a:t>回答2026年的決策問题。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31750" y="5518150"/>
            <a:ext cx="384810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50" b="0" i="0">
                <a:solidFill>
                  <a:srgbClr val="1F1F1F"/>
                </a:solidFill>
              </a:rPr>
              <a:t>分佈的接近，完全無視邏輯真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38100" y="5988050"/>
            <a:ext cx="26289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1F1F1F"/>
                </a:solidFill>
              </a:rPr>
              <a:t>實性與版本有效性。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44450" y="6800850"/>
            <a:ext cx="3848100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50" b="0" i="0">
                <a:solidFill>
                  <a:srgbClr val="1F1F1F"/>
                </a:solidFill>
              </a:rPr>
              <a:t>單純的切片策略會導致準確度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6000" y="6915150"/>
            <a:ext cx="12319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50" b="0" i="0">
                <a:solidFill>
                  <a:srgbClr val="A39F92"/>
                </a:solidFill>
              </a:rPr>
              <a:t>例外條款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31750" y="7258050"/>
            <a:ext cx="214630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1F1F1F"/>
                </a:solidFill>
              </a:rPr>
              <a:t>下降超過60%。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6550" y="7315200"/>
            <a:ext cx="26035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50" b="0" i="0">
                <a:solidFill>
                  <a:srgbClr val="B8B2A3"/>
                </a:solidFill>
              </a:rPr>
              <a:t>(Exception Clause)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87750" y="9474200"/>
            <a:ext cx="107315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A6ABB0"/>
                </a:solidFill>
              </a:rPr>
              <a:t>NotebookLM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5200" y="742950"/>
            <a:ext cx="12890500" cy="857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750" b="0" i="0">
                <a:solidFill>
                  <a:srgbClr val="1F1F1F"/>
                </a:solidFill>
              </a:rPr>
              <a:t>向量資料庫依然是處理千萬級數據的極速堡壘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76850" y="2019300"/>
            <a:ext cx="1479550" cy="501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950" b="0" i="0">
                <a:solidFill>
                  <a:srgbClr val="1F1F1F"/>
                </a:solidFill>
              </a:rPr>
              <a:t>核心優勢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15700" y="2019300"/>
            <a:ext cx="213360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850" b="0" i="0">
                <a:solidFill>
                  <a:srgbClr val="1F1F1F"/>
                </a:solidFill>
              </a:rPr>
              <a:t>最佳應用場景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9500" y="2025650"/>
            <a:ext cx="149225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950" b="0" i="0">
                <a:solidFill>
                  <a:srgbClr val="1F1F1F"/>
                </a:solidFill>
              </a:rPr>
              <a:t>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95900" y="2838450"/>
            <a:ext cx="4660900" cy="488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50" b="0" i="0">
                <a:solidFill>
                  <a:srgbClr val="1F1F1F"/>
                </a:solidFill>
              </a:rPr>
              <a:t>大規模RAG（穩定性舆擴展性）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8400" y="2863850"/>
            <a:ext cx="2463800" cy="463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1F1F1F"/>
                </a:solidFill>
              </a:rPr>
              <a:t>企業級生產環境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300" y="2908300"/>
            <a:ext cx="156845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50" b="0" i="0">
                <a:solidFill>
                  <a:srgbClr val="1F1F1F"/>
                </a:solidFill>
              </a:rPr>
              <a:t>Pinecone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4750" y="3727450"/>
            <a:ext cx="2457450" cy="450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1F1F1F"/>
                </a:solidFill>
              </a:rPr>
              <a:t>合規性嚴格環境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8600" y="3740150"/>
            <a:ext cx="409575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1F1F1F"/>
                </a:solidFill>
              </a:rPr>
              <a:t>混合搜尋精度(詞法+語義)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2300" y="3759200"/>
            <a:ext cx="2044700" cy="463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1F1F1F"/>
                </a:solidFill>
              </a:rPr>
              <a:t>OpenSearch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4950" y="4603750"/>
            <a:ext cx="2768600" cy="412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50" b="0" i="0">
                <a:solidFill>
                  <a:srgbClr val="1F1F1F"/>
                </a:solidFill>
              </a:rPr>
              <a:t>現有資料庫集成度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41100" y="4616450"/>
            <a:ext cx="3105150" cy="412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50" b="0" i="0">
                <a:solidFill>
                  <a:srgbClr val="1F1F1F"/>
                </a:solidFill>
              </a:rPr>
              <a:t>中小團隊與輕量開發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8650" y="4648200"/>
            <a:ext cx="154940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50" b="0" i="0">
                <a:solidFill>
                  <a:srgbClr val="1F1F1F"/>
                </a:solidFill>
              </a:rPr>
              <a:t>PGVector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66900" y="5448300"/>
            <a:ext cx="1003300" cy="463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1F1F1F"/>
                </a:solidFill>
              </a:rPr>
              <a:t>Redis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41100" y="5461000"/>
            <a:ext cx="309880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50" b="0" i="0">
                <a:solidFill>
                  <a:srgbClr val="1F1F1F"/>
                </a:solidFill>
              </a:rPr>
              <a:t>實時應用與語義緩存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8600" y="5467350"/>
            <a:ext cx="44005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50" b="0" i="0">
                <a:solidFill>
                  <a:srgbClr val="1F1F1F"/>
                </a:solidFill>
              </a:rPr>
              <a:t>極低延遲與內存運算（TTFT)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8400" y="6318250"/>
            <a:ext cx="311785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50" b="0" i="0">
                <a:solidFill>
                  <a:srgbClr val="1F1F1F"/>
                </a:solidFill>
              </a:rPr>
              <a:t>邊緣運算與原型設計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9600" y="6324600"/>
            <a:ext cx="151130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50" b="0" i="0">
                <a:solidFill>
                  <a:srgbClr val="1F1F1F"/>
                </a:solidFill>
              </a:rPr>
              <a:t>LanceDB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300" y="6330950"/>
            <a:ext cx="241300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50" b="0" i="0">
                <a:solidFill>
                  <a:srgbClr val="1F1F1F"/>
                </a:solidFill>
              </a:rPr>
              <a:t>本地優先靈活性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8750" y="7435850"/>
            <a:ext cx="5600700" cy="450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950" b="0" i="0">
                <a:solidFill>
                  <a:srgbClr val="A5977D"/>
                </a:solidFill>
              </a:rPr>
              <a:t>結構性致命傷（TheFatal Flaw)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8750" y="8089900"/>
            <a:ext cx="744855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50" b="0" i="0">
                <a:solidFill>
                  <a:srgbClr val="BCB8AE"/>
                </a:solidFill>
              </a:rPr>
              <a:t>索引延遲與上下文混淆。尋找「增加預算」時，系統常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5100" y="8477250"/>
            <a:ext cx="5219700" cy="38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50" b="0" i="0">
                <a:solidFill>
                  <a:srgbClr val="B9B5AB"/>
                </a:solidFill>
              </a:rPr>
              <a:t>因語義模糊撈出「削減開支」的片段。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332200" y="9474200"/>
            <a:ext cx="102870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</a:rPr>
              <a:t>NotebookLM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